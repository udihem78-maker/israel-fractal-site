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הסיכום הסופי — “ישראל במבט פרקטלי”</a:t>
            </a:r>
          </a:p>
        </p:txBody>
      </p:sp>
      <p:sp>
        <p:nvSpPr>
          <p:cNvPr id="3" name="Content Placeholder 2"/>
          <p:cNvSpPr>
            <a:spLocks noGrp="1"/>
          </p:cNvSpPr>
          <p:nvPr>
            <p:ph idx="1"/>
          </p:nvPr>
        </p:nvSpPr>
        <p:spPr/>
        <p:txBody>
          <a:bodyPr/>
          <a:lstStyle/>
          <a:p>
            <a:pPr lvl="0" indent="0" marL="0">
              <a:buNone/>
            </a:pPr>
            <a:r>
              <a:rPr b="1"/>
              <a:t>מחקר הוליסטי של ישראל במתודולוגיית Data Fluidity של אהוד חמלי</a:t>
            </a:r>
            <a:r>
              <a:rPr/>
              <a:t> </a:t>
            </a:r>
            <a:r>
              <a:rPr b="1"/>
              <a:t>78 שנות היסטוריה (1948-2026) · 32 מסמכי מחקר · 79,500 נקודות מדידה</a:t>
            </a:r>
          </a:p>
          <a:p>
            <a:pPr lvl="0" indent="0" marL="0">
              <a:buNone/>
            </a:pPr>
            <a:r>
              <a:rPr b="1"/>
              <a:t>תאריך: אוקטובר 2026</a:t>
            </a:r>
            <a:r>
              <a:rPr/>
              <a:t> </a:t>
            </a:r>
            <a:r>
              <a:rPr b="1"/>
              <a:t>מחבר: udihem78@gmail.com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1: מה בוצע? — הסקירה הכמותית</a:t>
            </a:r>
          </a:p>
        </p:txBody>
      </p:sp>
      <p:sp>
        <p:nvSpPr>
          <p:cNvPr id="4" name="Text Placeholder 3"/>
          <p:cNvSpPr>
            <a:spLocks noGrp="1"/>
          </p:cNvSpPr>
          <p:nvPr>
            <p:ph idx="2" sz="half" type="body"/>
          </p:nvPr>
        </p:nvSpPr>
        <p:spPr/>
        <p:txBody>
          <a:bodyPr/>
          <a:lstStyle/>
          <a:p>
            <a:pPr lvl="0" indent="0" marL="0">
              <a:spcBef>
                <a:spcPts val="3000"/>
              </a:spcBef>
              <a:buNone/>
            </a:pPr>
            <a:r>
              <a:rPr b="1"/>
              <a:t>1.1 הסטטיסטיקה המכלילה</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מדד</a:t>
                      </a:r>
                    </a:p>
                  </a:txBody>
                  <a:tcPr/>
                </a:tc>
                <a:tc>
                  <a:txBody>
                    <a:bodyPr/>
                    <a:lstStyle/>
                    <a:p>
                      <a:pPr lvl="0" indent="0" marL="0">
                        <a:buNone/>
                      </a:pPr>
                      <a:r>
                        <a:rPr/>
                        <a:t>ערך</a:t>
                      </a:r>
                    </a:p>
                  </a:txBody>
                  <a:tcPr/>
                </a:tc>
              </a:tr>
              <a:tr h="0">
                <a:tc>
                  <a:txBody>
                    <a:bodyPr/>
                    <a:lstStyle/>
                    <a:p>
                      <a:pPr lvl="0" indent="0" marL="0">
                        <a:buNone/>
                      </a:pPr>
                      <a:r>
                        <a:rPr b="1"/>
                        <a:t>מסמכי מחקר</a:t>
                      </a:r>
                    </a:p>
                  </a:txBody>
                </a:tc>
                <a:tc>
                  <a:txBody>
                    <a:bodyPr/>
                    <a:lstStyle/>
                    <a:p>
                      <a:pPr lvl="0" indent="0" marL="0">
                        <a:buNone/>
                      </a:pPr>
                      <a:r>
                        <a:rPr b="1"/>
                        <a:t>32</a:t>
                      </a:r>
                    </a:p>
                  </a:txBody>
                </a:tc>
              </a:tr>
              <a:tr h="0">
                <a:tc>
                  <a:txBody>
                    <a:bodyPr/>
                    <a:lstStyle/>
                    <a:p>
                      <a:pPr lvl="0" indent="0" marL="0">
                        <a:buNone/>
                      </a:pPr>
                      <a:r>
                        <a:rPr b="1"/>
                        <a:t>שורות ניתוח</a:t>
                      </a:r>
                    </a:p>
                  </a:txBody>
                </a:tc>
                <a:tc>
                  <a:txBody>
                    <a:bodyPr/>
                    <a:lstStyle/>
                    <a:p>
                      <a:pPr lvl="0" indent="0" marL="0">
                        <a:buNone/>
                      </a:pPr>
                      <a:r>
                        <a:rPr b="1"/>
                        <a:t>~23,100</a:t>
                      </a:r>
                    </a:p>
                  </a:txBody>
                </a:tc>
              </a:tr>
              <a:tr h="0">
                <a:tc>
                  <a:txBody>
                    <a:bodyPr/>
                    <a:lstStyle/>
                    <a:p>
                      <a:pPr lvl="0" indent="0" marL="0">
                        <a:buNone/>
                      </a:pPr>
                      <a:r>
                        <a:rPr b="1"/>
                        <a:t>נקודות מדידה כמותיות</a:t>
                      </a:r>
                    </a:p>
                  </a:txBody>
                </a:tc>
                <a:tc>
                  <a:txBody>
                    <a:bodyPr/>
                    <a:lstStyle/>
                    <a:p>
                      <a:pPr lvl="0" indent="0" marL="0">
                        <a:buNone/>
                      </a:pPr>
                      <a:r>
                        <a:rPr b="1"/>
                        <a:t>~79,500</a:t>
                      </a:r>
                    </a:p>
                  </a:txBody>
                </a:tc>
              </a:tr>
              <a:tr h="0">
                <a:tc>
                  <a:txBody>
                    <a:bodyPr/>
                    <a:lstStyle/>
                    <a:p>
                      <a:pPr lvl="0" indent="0" marL="0">
                        <a:buNone/>
                      </a:pPr>
                      <a:r>
                        <a:rPr b="1"/>
                        <a:t>מדדי Data Fluidity שפותחו</a:t>
                      </a:r>
                    </a:p>
                  </a:txBody>
                </a:tc>
                <a:tc>
                  <a:txBody>
                    <a:bodyPr/>
                    <a:lstStyle/>
                    <a:p>
                      <a:pPr lvl="0" indent="0" marL="0">
                        <a:buNone/>
                      </a:pPr>
                      <a:r>
                        <a:rPr b="1"/>
                        <a:t>17</a:t>
                      </a:r>
                    </a:p>
                  </a:txBody>
                </a:tc>
              </a:tr>
              <a:tr h="0">
                <a:tc>
                  <a:txBody>
                    <a:bodyPr/>
                    <a:lstStyle/>
                    <a:p>
                      <a:pPr lvl="0" indent="0" marL="0">
                        <a:buNone/>
                      </a:pPr>
                      <a:r>
                        <a:rPr b="1"/>
                        <a:t>מוסדות שנותחו</a:t>
                      </a:r>
                    </a:p>
                  </a:txBody>
                </a:tc>
                <a:tc>
                  <a:txBody>
                    <a:bodyPr/>
                    <a:lstStyle/>
                    <a:p>
                      <a:pPr lvl="0" indent="0" marL="0">
                        <a:buNone/>
                      </a:pPr>
                      <a:r>
                        <a:rPr b="1"/>
                        <a:t>200+</a:t>
                      </a:r>
                    </a:p>
                  </a:txBody>
                </a:tc>
              </a:tr>
              <a:tr h="0">
                <a:tc>
                  <a:txBody>
                    <a:bodyPr/>
                    <a:lstStyle/>
                    <a:p>
                      <a:pPr lvl="0" indent="0" marL="0">
                        <a:buNone/>
                      </a:pPr>
                      <a:r>
                        <a:rPr b="1"/>
                        <a:t>מנהיגים שדורגו</a:t>
                      </a:r>
                    </a:p>
                  </a:txBody>
                </a:tc>
                <a:tc>
                  <a:txBody>
                    <a:bodyPr/>
                    <a:lstStyle/>
                    <a:p>
                      <a:pPr lvl="0" indent="0" marL="0">
                        <a:buNone/>
                      </a:pPr>
                      <a:r>
                        <a:rPr b="1"/>
                        <a:t>1,250+</a:t>
                      </a:r>
                    </a:p>
                  </a:txBody>
                </a:tc>
              </a:tr>
              <a:tr h="0">
                <a:tc>
                  <a:txBody>
                    <a:bodyPr/>
                    <a:lstStyle/>
                    <a:p>
                      <a:pPr lvl="0" indent="0" marL="0">
                        <a:buNone/>
                      </a:pPr>
                      <a:r>
                        <a:rPr b="1"/>
                        <a:t>ח”כים נוכחיים + חדשים</a:t>
                      </a:r>
                    </a:p>
                  </a:txBody>
                </a:tc>
                <a:tc>
                  <a:txBody>
                    <a:bodyPr/>
                    <a:lstStyle/>
                    <a:p>
                      <a:pPr lvl="0" indent="0" marL="0">
                        <a:buNone/>
                      </a:pPr>
                      <a:r>
                        <a:rPr b="1"/>
                        <a:t>200</a:t>
                      </a:r>
                    </a:p>
                  </a:txBody>
                </a:tc>
              </a:tr>
              <a:tr h="0">
                <a:tc>
                  <a:txBody>
                    <a:bodyPr/>
                    <a:lstStyle/>
                    <a:p>
                      <a:pPr lvl="0" indent="0" marL="0">
                        <a:buNone/>
                      </a:pPr>
                      <a:r>
                        <a:rPr b="1"/>
                        <a:t>מגזרים (ישראל + פלסטין)</a:t>
                      </a:r>
                    </a:p>
                  </a:txBody>
                </a:tc>
                <a:tc>
                  <a:txBody>
                    <a:bodyPr/>
                    <a:lstStyle/>
                    <a:p>
                      <a:pPr lvl="0" indent="0" marL="0">
                        <a:buNone/>
                      </a:pPr>
                      <a:r>
                        <a:rPr b="1"/>
                        <a:t>48</a:t>
                      </a:r>
                    </a:p>
                  </a:txBody>
                </a:tc>
              </a:tr>
              <a:tr h="0">
                <a:tc>
                  <a:txBody>
                    <a:bodyPr/>
                    <a:lstStyle/>
                    <a:p>
                      <a:pPr lvl="0" indent="0" marL="0">
                        <a:buNone/>
                      </a:pPr>
                      <a:r>
                        <a:rPr b="1"/>
                        <a:t>ראשי ממשלה (היסטורי)</a:t>
                      </a:r>
                    </a:p>
                  </a:txBody>
                </a:tc>
                <a:tc>
                  <a:txBody>
                    <a:bodyPr/>
                    <a:lstStyle/>
                    <a:p>
                      <a:pPr lvl="0" indent="0" marL="0">
                        <a:buNone/>
                      </a:pPr>
                      <a:r>
                        <a:rPr b="1"/>
                        <a:t>13</a:t>
                      </a:r>
                    </a:p>
                  </a:txBody>
                </a:tc>
              </a:tr>
              <a:tr h="0">
                <a:tc>
                  <a:txBody>
                    <a:bodyPr/>
                    <a:lstStyle/>
                    <a:p>
                      <a:pPr lvl="0" indent="0" marL="0">
                        <a:buNone/>
                      </a:pPr>
                      <a:r>
                        <a:rPr b="1"/>
                        <a:t>ממשלות (היסטורי)</a:t>
                      </a:r>
                    </a:p>
                  </a:txBody>
                </a:tc>
                <a:tc>
                  <a:txBody>
                    <a:bodyPr/>
                    <a:lstStyle/>
                    <a:p>
                      <a:pPr lvl="0" indent="0" marL="0">
                        <a:buNone/>
                      </a:pPr>
                      <a:r>
                        <a:rPr b="1"/>
                        <a:t>37</a:t>
                      </a:r>
                    </a:p>
                  </a:txBody>
                </a:tc>
              </a:tr>
              <a:tr h="0">
                <a:tc>
                  <a:txBody>
                    <a:bodyPr/>
                    <a:lstStyle/>
                    <a:p>
                      <a:pPr lvl="0" indent="0" marL="0">
                        <a:buNone/>
                      </a:pPr>
                      <a:r>
                        <a:rPr b="1"/>
                        <a:t>כנסתים</a:t>
                      </a:r>
                    </a:p>
                  </a:txBody>
                </a:tc>
                <a:tc>
                  <a:txBody>
                    <a:bodyPr/>
                    <a:lstStyle/>
                    <a:p>
                      <a:pPr lvl="0" indent="0" marL="0">
                        <a:buNone/>
                      </a:pPr>
                      <a:r>
                        <a:rPr b="1"/>
                        <a:t>25</a:t>
                      </a:r>
                    </a:p>
                  </a:txBody>
                </a:tc>
              </a:tr>
              <a:tr h="0">
                <a:tc>
                  <a:txBody>
                    <a:bodyPr/>
                    <a:lstStyle/>
                    <a:p>
                      <a:pPr lvl="0" indent="0" marL="0">
                        <a:buNone/>
                      </a:pPr>
                      <a:r>
                        <a:rPr b="1"/>
                        <a:t>תרחישי Monte Carlo</a:t>
                      </a:r>
                    </a:p>
                  </a:txBody>
                </a:tc>
                <a:tc>
                  <a:txBody>
                    <a:bodyPr/>
                    <a:lstStyle/>
                    <a:p>
                      <a:pPr lvl="0" indent="0" marL="0">
                        <a:buNone/>
                      </a:pPr>
                      <a:r>
                        <a:rPr b="1"/>
                        <a:t>20,000</a:t>
                      </a:r>
                    </a:p>
                  </a:txBody>
                </a:tc>
              </a:tr>
              <a:tr h="0">
                <a:tc>
                  <a:txBody>
                    <a:bodyPr/>
                    <a:lstStyle/>
                    <a:p>
                      <a:pPr lvl="0" indent="0" marL="0">
                        <a:buNone/>
                      </a:pPr>
                      <a:r>
                        <a:rPr b="1"/>
                        <a:t>חוקים פרקטליים חדשים</a:t>
                      </a:r>
                    </a:p>
                  </a:txBody>
                </a:tc>
                <a:tc>
                  <a:txBody>
                    <a:bodyPr/>
                    <a:lstStyle/>
                    <a:p>
                      <a:pPr lvl="0" indent="0" marL="0">
                        <a:buNone/>
                      </a:pPr>
                      <a:r>
                        <a:rPr b="1"/>
                        <a:t>14</a:t>
                      </a:r>
                    </a:p>
                  </a:txBody>
                </a:tc>
              </a:tr>
              <a:tr h="0">
                <a:tc>
                  <a:txBody>
                    <a:bodyPr/>
                    <a:lstStyle/>
                    <a:p>
                      <a:pPr lvl="0" indent="0" marL="0">
                        <a:buNone/>
                      </a:pPr>
                      <a:r>
                        <a:rPr b="1"/>
                        <a:t>תוכניות פעולה</a:t>
                      </a:r>
                    </a:p>
                  </a:txBody>
                </a:tc>
                <a:tc>
                  <a:txBody>
                    <a:bodyPr/>
                    <a:lstStyle/>
                    <a:p>
                      <a:pPr lvl="0" indent="0" marL="0">
                        <a:buNone/>
                      </a:pPr>
                      <a:r>
                        <a:rPr b="1"/>
                        <a:t>5 + אזורית</a:t>
                      </a:r>
                    </a:p>
                  </a:txBody>
                </a:tc>
              </a:tr>
              <a:tr h="0">
                <a:tc>
                  <a:txBody>
                    <a:bodyPr/>
                    <a:lstStyle/>
                    <a:p>
                      <a:pPr lvl="0" indent="0" marL="0">
                        <a:buNone/>
                      </a:pPr>
                      <a:r>
                        <a:rPr b="1"/>
                        <a:t>שנות היסטוריה</a:t>
                      </a:r>
                    </a:p>
                  </a:txBody>
                </a:tc>
                <a:tc>
                  <a:txBody>
                    <a:bodyPr/>
                    <a:lstStyle/>
                    <a:p>
                      <a:pPr lvl="0" indent="0" marL="0">
                        <a:buNone/>
                      </a:pPr>
                      <a:r>
                        <a:rPr b="1"/>
                        <a:t>78</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1.2 מפת ה-repo</a:t>
            </a:r>
          </a:p>
          <a:p>
            <a:pPr lvl="0" indent="0">
              <a:buNone/>
            </a:pPr>
            <a:r>
              <a:rPr>
                <a:latin typeface="Courier"/>
              </a:rPr>
              <a:t>animated-eureka/
├── methodology/              — מתודולוגיה פרקטלית
├── indicators/               — דאשבורד
├── institutions/             — 23 ניתוחי מוסדות
├── corruption/               — ניתוחי שחיתות
├── budget-power/             — 16 ניתוחי כוח/תקציב
├── summary/                  — 7 סיכומים
├── tools/fractal-face-analysis/ — Python
└── README.md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2: 17 המדדים שפותחו</a:t>
            </a:r>
          </a:p>
        </p:txBody>
      </p:sp>
      <p:sp>
        <p:nvSpPr>
          <p:cNvPr id="3" name="Content Placeholder 2"/>
          <p:cNvSpPr>
            <a:spLocks noGrp="1"/>
          </p:cNvSpPr>
          <p:nvPr>
            <p:ph idx="1"/>
          </p:nvPr>
        </p:nvSpPr>
        <p:spPr/>
        <p:txBody>
          <a:bodyPr/>
          <a:lstStyle/>
          <a:p>
            <a:pPr lvl="0" indent="0" marL="0">
              <a:spcBef>
                <a:spcPts val="3000"/>
              </a:spcBef>
              <a:buNone/>
            </a:pPr>
            <a:r>
              <a:rPr b="1"/>
              <a:t>2.1 מדדי יסוד (מ-Hemli DUR)</a:t>
            </a:r>
          </a:p>
          <a:p>
            <a:pPr lvl="0" indent="-342900" marL="342900">
              <a:buAutoNum type="arabicPeriod"/>
            </a:pPr>
            <a:r>
              <a:rPr b="1"/>
              <a:t>F (Fluidity)</a:t>
            </a:r>
            <a:r>
              <a:rPr/>
              <a:t> = D × U / R — “נזילות ערך”</a:t>
            </a:r>
          </a:p>
          <a:p>
            <a:pPr lvl="0" indent="-342900" marL="342900">
              <a:buAutoNum type="arabicPeriod"/>
            </a:pPr>
            <a:r>
              <a:rPr b="1"/>
              <a:t>D (Darwin)</a:t>
            </a:r>
            <a:r>
              <a:rPr/>
              <a:t> — לחץ אבולוציוני</a:t>
            </a:r>
          </a:p>
          <a:p>
            <a:pPr lvl="0" indent="-342900" marL="342900">
              <a:buAutoNum type="arabicPeriod"/>
            </a:pPr>
            <a:r>
              <a:rPr b="1"/>
              <a:t>U (Utility)</a:t>
            </a:r>
            <a:r>
              <a:rPr/>
              <a:t> — תועלת ממשית</a:t>
            </a:r>
          </a:p>
          <a:p>
            <a:pPr lvl="0" indent="-342900" marL="342900">
              <a:buAutoNum type="arabicPeriod"/>
            </a:pPr>
            <a:r>
              <a:rPr b="1"/>
              <a:t>R (Resistance)</a:t>
            </a:r>
            <a:r>
              <a:rPr/>
              <a:t> — חיכוך/התנגדות</a:t>
            </a:r>
          </a:p>
          <a:p>
            <a:pPr lvl="0" indent="0" marL="0">
              <a:spcBef>
                <a:spcPts val="3000"/>
              </a:spcBef>
              <a:buNone/>
            </a:pPr>
            <a:r>
              <a:rPr b="1"/>
              <a:t>2.2 13 מדדים חדשים (שפותחו במחקר)</a:t>
            </a:r>
          </a:p>
          <a:p>
            <a:pPr lvl="0" indent="-342900" marL="342900">
              <a:buAutoNum startAt="5" type="arabicPeriod"/>
            </a:pPr>
            <a:r>
              <a:rPr b="1"/>
              <a:t>PEP</a:t>
            </a:r>
            <a:r>
              <a:rPr/>
              <a:t> (Promise Execution %) — ביצוע הבטחות</a:t>
            </a:r>
          </a:p>
          <a:p>
            <a:pPr lvl="0" indent="-342900" marL="342900">
              <a:buAutoNum startAt="5" type="arabicPeriod"/>
            </a:pPr>
            <a:r>
              <a:rPr b="1"/>
              <a:t>DBR</a:t>
            </a:r>
            <a:r>
              <a:rPr/>
              <a:t> (Damage-Benefit Ratio) — נזק מול תועלת</a:t>
            </a:r>
          </a:p>
          <a:p>
            <a:pPr lvl="0" indent="-342900" marL="342900">
              <a:buAutoNum startAt="5" type="arabicPeriod"/>
            </a:pPr>
            <a:r>
              <a:rPr b="1"/>
              <a:t>NSV</a:t>
            </a:r>
            <a:r>
              <a:rPr/>
              <a:t> (Net Social Value) — ערך נטו חברתי</a:t>
            </a:r>
          </a:p>
          <a:p>
            <a:pPr lvl="0" indent="-342900" marL="342900">
              <a:buAutoNum startAt="5" type="arabicPeriod"/>
            </a:pPr>
            <a:r>
              <a:rPr b="1"/>
              <a:t>CBD</a:t>
            </a:r>
            <a:r>
              <a:rPr/>
              <a:t> (Citizen Benefit-to-Damage) — תועלת לאזרח</a:t>
            </a:r>
          </a:p>
          <a:p>
            <a:pPr lvl="0" indent="-342900" marL="342900">
              <a:buAutoNum startAt="5" type="arabicPeriod"/>
            </a:pPr>
            <a:r>
              <a:rPr b="1"/>
              <a:t>FAI</a:t>
            </a:r>
            <a:r>
              <a:rPr/>
              <a:t> (Family &amp; Associates Influence) — השפעת מקורבים</a:t>
            </a:r>
          </a:p>
          <a:p>
            <a:pPr lvl="0" indent="-342900" marL="342900">
              <a:buAutoNum startAt="5" type="arabicPeriod"/>
            </a:pPr>
            <a:r>
              <a:rPr b="1"/>
              <a:t>GQS</a:t>
            </a:r>
            <a:r>
              <a:rPr/>
              <a:t> (Government Quality Score) — טיב מינוי</a:t>
            </a:r>
          </a:p>
          <a:p>
            <a:pPr lvl="0" indent="-342900" marL="342900">
              <a:buAutoNum startAt="5" type="arabicPeriod"/>
            </a:pPr>
            <a:r>
              <a:rPr b="1"/>
              <a:t>CBE</a:t>
            </a:r>
            <a:r>
              <a:rPr/>
              <a:t> (Citizen-Beneficial Engagement %) — התעסקות מיטיבה</a:t>
            </a:r>
          </a:p>
          <a:p>
            <a:pPr lvl="0" indent="-342900" marL="342900">
              <a:buAutoNum startAt="5" type="arabicPeriod"/>
            </a:pPr>
            <a:r>
              <a:rPr b="1"/>
              <a:t>BE</a:t>
            </a:r>
            <a:r>
              <a:rPr/>
              <a:t> (Budget Execution) — ביצוע תקציב</a:t>
            </a:r>
          </a:p>
          <a:p>
            <a:pPr lvl="0" indent="-342900" marL="342900">
              <a:buAutoNum startAt="5" type="arabicPeriod"/>
            </a:pPr>
            <a:r>
              <a:rPr b="1"/>
              <a:t>ID</a:t>
            </a:r>
            <a:r>
              <a:rPr/>
              <a:t> (Indirect Damage) — נזק עקיף</a:t>
            </a:r>
          </a:p>
          <a:p>
            <a:pPr lvl="0" indent="-342900" marL="342900">
              <a:buAutoNum startAt="5" type="arabicPeriod"/>
            </a:pPr>
            <a:r>
              <a:rPr b="1"/>
              <a:t>FO</a:t>
            </a:r>
            <a:r>
              <a:rPr/>
              <a:t> (Future Obligations) — התחייבויות עתידיות</a:t>
            </a:r>
          </a:p>
          <a:p>
            <a:pPr lvl="0" indent="-342900" marL="342900">
              <a:buAutoNum startAt="5" type="arabicPeriod"/>
            </a:pPr>
            <a:r>
              <a:rPr b="1"/>
              <a:t>I</a:t>
            </a:r>
            <a:r>
              <a:rPr/>
              <a:t> (Independence) — עצמאות מוסדית</a:t>
            </a:r>
          </a:p>
          <a:p>
            <a:pPr lvl="0" indent="-342900" marL="342900">
              <a:buAutoNum startAt="5" type="arabicPeriod"/>
            </a:pPr>
            <a:r>
              <a:rPr b="1"/>
              <a:t>P</a:t>
            </a:r>
            <a:r>
              <a:rPr/>
              <a:t> (Performance) — ביצועיות</a:t>
            </a:r>
          </a:p>
          <a:p>
            <a:pPr lvl="0" indent="-342900" marL="342900">
              <a:buAutoNum startAt="5" type="arabicPeriod"/>
            </a:pPr>
            <a:r>
              <a:rPr b="1"/>
              <a:t>NFI</a:t>
            </a:r>
            <a:r>
              <a:rPr/>
              <a:t> (Net Fiscal Impact) — השפעה כספית נטו</a:t>
            </a:r>
          </a:p>
          <a:p>
            <a:pPr lvl="0"/>
            <a:r>
              <a:rPr b="1"/>
              <a:t>SR</a:t>
            </a:r>
            <a:r>
              <a:rPr/>
              <a:t> (Suitability Ranking) — דירוג התאמה למועמדים</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3: תוצאות — דירוג ראשי הממשלה</a:t>
            </a:r>
          </a:p>
        </p:txBody>
      </p:sp>
      <p:sp>
        <p:nvSpPr>
          <p:cNvPr id="4" name="Text Placeholder 3"/>
          <p:cNvSpPr>
            <a:spLocks noGrp="1"/>
          </p:cNvSpPr>
          <p:nvPr>
            <p:ph idx="2" sz="half" type="body"/>
          </p:nvPr>
        </p:nvSpPr>
        <p:spPr/>
        <p:txBody>
          <a:bodyPr/>
          <a:lstStyle/>
          <a:p>
            <a:pPr lvl="0" indent="0" marL="0">
              <a:spcBef>
                <a:spcPts val="3000"/>
              </a:spcBef>
              <a:buNone/>
            </a:pPr>
            <a:r>
              <a:rPr b="1"/>
              <a:t>3.1 הדירוג הסופי (13 רה”מ)</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דירוג</a:t>
                      </a:r>
                    </a:p>
                  </a:txBody>
                  <a:tcPr/>
                </a:tc>
                <a:tc>
                  <a:txBody>
                    <a:bodyPr/>
                    <a:lstStyle/>
                    <a:p>
                      <a:pPr lvl="0" indent="0" marL="0">
                        <a:buNone/>
                      </a:pPr>
                      <a:r>
                        <a:rPr/>
                        <a:t>רה”מ</a:t>
                      </a:r>
                    </a:p>
                  </a:txBody>
                  <a:tcPr/>
                </a:tc>
                <a:tc>
                  <a:txBody>
                    <a:bodyPr/>
                    <a:lstStyle/>
                    <a:p>
                      <a:pPr lvl="0" indent="0" marL="0">
                        <a:buNone/>
                      </a:pPr>
                      <a:r>
                        <a:rPr/>
                        <a:t>שנים</a:t>
                      </a:r>
                    </a:p>
                  </a:txBody>
                  <a:tcPr/>
                </a:tc>
                <a:tc>
                  <a:txBody>
                    <a:bodyPr/>
                    <a:lstStyle/>
                    <a:p>
                      <a:pPr lvl="0" indent="0" marL="0">
                        <a:buNone/>
                      </a:pPr>
                      <a:r>
                        <a:rPr/>
                        <a:t>ציון מכליל</a:t>
                      </a:r>
                    </a:p>
                  </a:txBody>
                  <a:tcPr/>
                </a:tc>
                <a:tc>
                  <a:txBody>
                    <a:bodyPr/>
                    <a:lstStyle/>
                    <a:p>
                      <a:pPr lvl="0" indent="0" marL="0">
                        <a:buNone/>
                      </a:pPr>
                      <a:r>
                        <a:rPr/>
                        <a:t>NFI מצטבר (₪B)</a:t>
                      </a:r>
                    </a:p>
                  </a:txBody>
                  <a:tcPr/>
                </a:tc>
              </a:tr>
              <a:tr h="0">
                <a:tc>
                  <a:txBody>
                    <a:bodyPr/>
                    <a:lstStyle/>
                    <a:p>
                      <a:pPr lvl="0" indent="0" marL="0">
                        <a:buNone/>
                      </a:pPr>
                      <a:r>
                        <a:rPr/>
                        <a:t>🥇 1</a:t>
                      </a:r>
                    </a:p>
                  </a:txBody>
                </a:tc>
                <a:tc>
                  <a:txBody>
                    <a:bodyPr/>
                    <a:lstStyle/>
                    <a:p>
                      <a:pPr lvl="0" indent="0" marL="0">
                        <a:buNone/>
                      </a:pPr>
                      <a:r>
                        <a:rPr b="1"/>
                        <a:t>בן-גוריון</a:t>
                      </a:r>
                    </a:p>
                  </a:txBody>
                </a:tc>
                <a:tc>
                  <a:txBody>
                    <a:bodyPr/>
                    <a:lstStyle/>
                    <a:p>
                      <a:pPr lvl="0" indent="0" marL="0">
                        <a:buNone/>
                      </a:pPr>
                      <a:r>
                        <a:rPr/>
                        <a:t>14</a:t>
                      </a:r>
                    </a:p>
                  </a:txBody>
                </a:tc>
                <a:tc>
                  <a:txBody>
                    <a:bodyPr/>
                    <a:lstStyle/>
                    <a:p>
                      <a:pPr lvl="0" indent="0" marL="0">
                        <a:buNone/>
                      </a:pPr>
                      <a:r>
                        <a:rPr b="1"/>
                        <a:t>9.5</a:t>
                      </a:r>
                    </a:p>
                  </a:txBody>
                </a:tc>
                <a:tc>
                  <a:txBody>
                    <a:bodyPr/>
                    <a:lstStyle/>
                    <a:p>
                      <a:pPr lvl="0" indent="0" marL="0">
                        <a:buNone/>
                      </a:pPr>
                      <a:r>
                        <a:rPr b="1"/>
                        <a:t>+198</a:t>
                      </a:r>
                    </a:p>
                  </a:txBody>
                </a:tc>
              </a:tr>
              <a:tr h="0">
                <a:tc>
                  <a:txBody>
                    <a:bodyPr/>
                    <a:lstStyle/>
                    <a:p>
                      <a:pPr lvl="0" indent="0" marL="0">
                        <a:buNone/>
                      </a:pPr>
                      <a:r>
                        <a:rPr/>
                        <a:t>🥈 2</a:t>
                      </a:r>
                    </a:p>
                  </a:txBody>
                </a:tc>
                <a:tc>
                  <a:txBody>
                    <a:bodyPr/>
                    <a:lstStyle/>
                    <a:p>
                      <a:pPr lvl="0" indent="0" marL="0">
                        <a:buNone/>
                      </a:pPr>
                      <a:r>
                        <a:rPr b="1"/>
                        <a:t>אשכול</a:t>
                      </a:r>
                    </a:p>
                  </a:txBody>
                </a:tc>
                <a:tc>
                  <a:txBody>
                    <a:bodyPr/>
                    <a:lstStyle/>
                    <a:p>
                      <a:pPr lvl="0" indent="0" marL="0">
                        <a:buNone/>
                      </a:pPr>
                      <a:r>
                        <a:rPr/>
                        <a:t>7.2</a:t>
                      </a:r>
                    </a:p>
                  </a:txBody>
                </a:tc>
                <a:tc>
                  <a:txBody>
                    <a:bodyPr/>
                    <a:lstStyle/>
                    <a:p>
                      <a:pPr lvl="0" indent="0" marL="0">
                        <a:buNone/>
                      </a:pPr>
                      <a:r>
                        <a:rPr/>
                        <a:t>8.9</a:t>
                      </a:r>
                    </a:p>
                  </a:txBody>
                </a:tc>
                <a:tc>
                  <a:txBody>
                    <a:bodyPr/>
                    <a:lstStyle/>
                    <a:p>
                      <a:pPr lvl="0" indent="0" marL="0">
                        <a:buNone/>
                      </a:pPr>
                      <a:r>
                        <a:rPr/>
                        <a:t>+76</a:t>
                      </a:r>
                    </a:p>
                  </a:txBody>
                </a:tc>
              </a:tr>
              <a:tr h="0">
                <a:tc>
                  <a:txBody>
                    <a:bodyPr/>
                    <a:lstStyle/>
                    <a:p>
                      <a:pPr lvl="0" indent="0" marL="0">
                        <a:buNone/>
                      </a:pPr>
                      <a:r>
                        <a:rPr/>
                        <a:t>🥉 3</a:t>
                      </a:r>
                    </a:p>
                  </a:txBody>
                </a:tc>
                <a:tc>
                  <a:txBody>
                    <a:bodyPr/>
                    <a:lstStyle/>
                    <a:p>
                      <a:pPr lvl="0" indent="0" marL="0">
                        <a:buNone/>
                      </a:pPr>
                      <a:r>
                        <a:rPr b="1"/>
                        <a:t>רבין (2)</a:t>
                      </a:r>
                    </a:p>
                  </a:txBody>
                </a:tc>
                <a:tc>
                  <a:txBody>
                    <a:bodyPr/>
                    <a:lstStyle/>
                    <a:p>
                      <a:pPr lvl="0" indent="0" marL="0">
                        <a:buNone/>
                      </a:pPr>
                      <a:r>
                        <a:rPr/>
                        <a:t>3</a:t>
                      </a:r>
                    </a:p>
                  </a:txBody>
                </a:tc>
                <a:tc>
                  <a:txBody>
                    <a:bodyPr/>
                    <a:lstStyle/>
                    <a:p>
                      <a:pPr lvl="0" indent="0" marL="0">
                        <a:buNone/>
                      </a:pPr>
                      <a:r>
                        <a:rPr/>
                        <a:t>8.2</a:t>
                      </a:r>
                    </a:p>
                  </a:txBody>
                </a:tc>
                <a:tc>
                  <a:txBody>
                    <a:bodyPr/>
                    <a:lstStyle/>
                    <a:p>
                      <a:pPr lvl="0" indent="0" marL="0">
                        <a:buNone/>
                      </a:pPr>
                      <a:r>
                        <a:rPr/>
                        <a:t>+30</a:t>
                      </a:r>
                    </a:p>
                  </a:txBody>
                </a:tc>
              </a:tr>
              <a:tr h="0">
                <a:tc>
                  <a:txBody>
                    <a:bodyPr/>
                    <a:lstStyle/>
                    <a:p>
                      <a:pPr lvl="0" indent="0" marL="0">
                        <a:buNone/>
                      </a:pPr>
                      <a:r>
                        <a:rPr/>
                        <a:t>4</a:t>
                      </a:r>
                    </a:p>
                  </a:txBody>
                </a:tc>
                <a:tc>
                  <a:txBody>
                    <a:bodyPr/>
                    <a:lstStyle/>
                    <a:p>
                      <a:pPr lvl="0" indent="0" marL="0">
                        <a:buNone/>
                      </a:pPr>
                      <a:r>
                        <a:rPr b="1"/>
                        <a:t>שרת</a:t>
                      </a:r>
                    </a:p>
                  </a:txBody>
                </a:tc>
                <a:tc>
                  <a:txBody>
                    <a:bodyPr/>
                    <a:lstStyle/>
                    <a:p>
                      <a:pPr lvl="0" indent="0" marL="0">
                        <a:buNone/>
                      </a:pPr>
                      <a:r>
                        <a:rPr/>
                        <a:t>1.2</a:t>
                      </a:r>
                    </a:p>
                  </a:txBody>
                </a:tc>
                <a:tc>
                  <a:txBody>
                    <a:bodyPr/>
                    <a:lstStyle/>
                    <a:p>
                      <a:pPr lvl="0" indent="0" marL="0">
                        <a:buNone/>
                      </a:pPr>
                      <a:r>
                        <a:rPr/>
                        <a:t>7.5</a:t>
                      </a:r>
                    </a:p>
                  </a:txBody>
                </a:tc>
                <a:tc>
                  <a:txBody>
                    <a:bodyPr/>
                    <a:lstStyle/>
                    <a:p>
                      <a:pPr lvl="0" indent="0" marL="0">
                        <a:buNone/>
                      </a:pPr>
                      <a:r>
                        <a:rPr/>
                        <a:t>+4</a:t>
                      </a:r>
                    </a:p>
                  </a:txBody>
                </a:tc>
              </a:tr>
              <a:tr h="0">
                <a:tc>
                  <a:txBody>
                    <a:bodyPr/>
                    <a:lstStyle/>
                    <a:p>
                      <a:pPr lvl="0" indent="0" marL="0">
                        <a:buNone/>
                      </a:pPr>
                      <a:r>
                        <a:rPr/>
                        <a:t>5</a:t>
                      </a:r>
                    </a:p>
                  </a:txBody>
                </a:tc>
                <a:tc>
                  <a:txBody>
                    <a:bodyPr/>
                    <a:lstStyle/>
                    <a:p>
                      <a:pPr lvl="0" indent="0" marL="0">
                        <a:buNone/>
                      </a:pPr>
                      <a:r>
                        <a:rPr b="1"/>
                        <a:t>רבין (1)</a:t>
                      </a:r>
                    </a:p>
                  </a:txBody>
                </a:tc>
                <a:tc>
                  <a:txBody>
                    <a:bodyPr/>
                    <a:lstStyle/>
                    <a:p>
                      <a:pPr lvl="0" indent="0" marL="0">
                        <a:buNone/>
                      </a:pPr>
                      <a:r>
                        <a:rPr/>
                        <a:t>3</a:t>
                      </a:r>
                    </a:p>
                  </a:txBody>
                </a:tc>
                <a:tc>
                  <a:txBody>
                    <a:bodyPr/>
                    <a:lstStyle/>
                    <a:p>
                      <a:pPr lvl="0" indent="0" marL="0">
                        <a:buNone/>
                      </a:pPr>
                      <a:r>
                        <a:rPr/>
                        <a:t>7.2</a:t>
                      </a:r>
                    </a:p>
                  </a:txBody>
                </a:tc>
                <a:tc>
                  <a:txBody>
                    <a:bodyPr/>
                    <a:lstStyle/>
                    <a:p>
                      <a:pPr lvl="0" indent="0" marL="0">
                        <a:buNone/>
                      </a:pPr>
                      <a:r>
                        <a:rPr/>
                        <a:t>+9</a:t>
                      </a:r>
                    </a:p>
                  </a:txBody>
                </a:tc>
              </a:tr>
              <a:tr h="0">
                <a:tc>
                  <a:txBody>
                    <a:bodyPr/>
                    <a:lstStyle/>
                    <a:p>
                      <a:pPr lvl="0" indent="0" marL="0">
                        <a:buNone/>
                      </a:pPr>
                      <a:r>
                        <a:rPr/>
                        <a:t>6</a:t>
                      </a:r>
                    </a:p>
                  </a:txBody>
                </a:tc>
                <a:tc>
                  <a:txBody>
                    <a:bodyPr/>
                    <a:lstStyle/>
                    <a:p>
                      <a:pPr lvl="0" indent="0" marL="0">
                        <a:buNone/>
                      </a:pPr>
                      <a:r>
                        <a:rPr b="1"/>
                        <a:t>בנט/לפיד</a:t>
                      </a:r>
                    </a:p>
                  </a:txBody>
                </a:tc>
                <a:tc>
                  <a:txBody>
                    <a:bodyPr/>
                    <a:lstStyle/>
                    <a:p>
                      <a:pPr lvl="0" indent="0" marL="0">
                        <a:buNone/>
                      </a:pPr>
                      <a:r>
                        <a:rPr/>
                        <a:t>1.5</a:t>
                      </a:r>
                    </a:p>
                  </a:txBody>
                </a:tc>
                <a:tc>
                  <a:txBody>
                    <a:bodyPr/>
                    <a:lstStyle/>
                    <a:p>
                      <a:pPr lvl="0" indent="0" marL="0">
                        <a:buNone/>
                      </a:pPr>
                      <a:r>
                        <a:rPr/>
                        <a:t>7.0</a:t>
                      </a:r>
                    </a:p>
                  </a:txBody>
                </a:tc>
                <a:tc>
                  <a:txBody>
                    <a:bodyPr/>
                    <a:lstStyle/>
                    <a:p>
                      <a:pPr lvl="0" indent="0" marL="0">
                        <a:buNone/>
                      </a:pPr>
                      <a:r>
                        <a:rPr/>
                        <a:t>+9</a:t>
                      </a:r>
                    </a:p>
                  </a:txBody>
                </a:tc>
              </a:tr>
              <a:tr h="0">
                <a:tc>
                  <a:txBody>
                    <a:bodyPr/>
                    <a:lstStyle/>
                    <a:p>
                      <a:pPr lvl="0" indent="0" marL="0">
                        <a:buNone/>
                      </a:pPr>
                      <a:r>
                        <a:rPr/>
                        <a:t>7</a:t>
                      </a:r>
                    </a:p>
                  </a:txBody>
                </a:tc>
                <a:tc>
                  <a:txBody>
                    <a:bodyPr/>
                    <a:lstStyle/>
                    <a:p>
                      <a:pPr lvl="0" indent="0" marL="0">
                        <a:buNone/>
                      </a:pPr>
                      <a:r>
                        <a:rPr b="1"/>
                        <a:t>שרון</a:t>
                      </a:r>
                    </a:p>
                  </a:txBody>
                </a:tc>
                <a:tc>
                  <a:txBody>
                    <a:bodyPr/>
                    <a:lstStyle/>
                    <a:p>
                      <a:pPr lvl="0" indent="0" marL="0">
                        <a:buNone/>
                      </a:pPr>
                      <a:r>
                        <a:rPr/>
                        <a:t>5</a:t>
                      </a:r>
                    </a:p>
                  </a:txBody>
                </a:tc>
                <a:tc>
                  <a:txBody>
                    <a:bodyPr/>
                    <a:lstStyle/>
                    <a:p>
                      <a:pPr lvl="0" indent="0" marL="0">
                        <a:buNone/>
                      </a:pPr>
                      <a:r>
                        <a:rPr/>
                        <a:t>6.5</a:t>
                      </a:r>
                    </a:p>
                  </a:txBody>
                </a:tc>
                <a:tc>
                  <a:txBody>
                    <a:bodyPr/>
                    <a:lstStyle/>
                    <a:p>
                      <a:pPr lvl="0" indent="0" marL="0">
                        <a:buNone/>
                      </a:pPr>
                      <a:r>
                        <a:rPr/>
                        <a:t>+25</a:t>
                      </a:r>
                    </a:p>
                  </a:txBody>
                </a:tc>
              </a:tr>
              <a:tr h="0">
                <a:tc>
                  <a:txBody>
                    <a:bodyPr/>
                    <a:lstStyle/>
                    <a:p>
                      <a:pPr lvl="0" indent="0" marL="0">
                        <a:buNone/>
                      </a:pPr>
                      <a:r>
                        <a:rPr/>
                        <a:t>8</a:t>
                      </a:r>
                    </a:p>
                  </a:txBody>
                </a:tc>
                <a:tc>
                  <a:txBody>
                    <a:bodyPr/>
                    <a:lstStyle/>
                    <a:p>
                      <a:pPr lvl="0" indent="0" marL="0">
                        <a:buNone/>
                      </a:pPr>
                      <a:r>
                        <a:rPr b="1"/>
                        <a:t>בגין</a:t>
                      </a:r>
                    </a:p>
                  </a:txBody>
                </a:tc>
                <a:tc>
                  <a:txBody>
                    <a:bodyPr/>
                    <a:lstStyle/>
                    <a:p>
                      <a:pPr lvl="0" indent="0" marL="0">
                        <a:buNone/>
                      </a:pPr>
                      <a:r>
                        <a:rPr/>
                        <a:t>6.3</a:t>
                      </a:r>
                    </a:p>
                  </a:txBody>
                </a:tc>
                <a:tc>
                  <a:txBody>
                    <a:bodyPr/>
                    <a:lstStyle/>
                    <a:p>
                      <a:pPr lvl="0" indent="0" marL="0">
                        <a:buNone/>
                      </a:pPr>
                      <a:r>
                        <a:rPr/>
                        <a:t>6.3</a:t>
                      </a:r>
                    </a:p>
                  </a:txBody>
                </a:tc>
                <a:tc>
                  <a:txBody>
                    <a:bodyPr/>
                    <a:lstStyle/>
                    <a:p>
                      <a:pPr lvl="0" indent="0" marL="0">
                        <a:buNone/>
                      </a:pPr>
                      <a:r>
                        <a:rPr/>
                        <a:t>+5</a:t>
                      </a:r>
                    </a:p>
                  </a:txBody>
                </a:tc>
              </a:tr>
              <a:tr h="0">
                <a:tc>
                  <a:txBody>
                    <a:bodyPr/>
                    <a:lstStyle/>
                    <a:p>
                      <a:pPr lvl="0" indent="0" marL="0">
                        <a:buNone/>
                      </a:pPr>
                      <a:r>
                        <a:rPr/>
                        <a:t>9</a:t>
                      </a:r>
                    </a:p>
                  </a:txBody>
                </a:tc>
                <a:tc>
                  <a:txBody>
                    <a:bodyPr/>
                    <a:lstStyle/>
                    <a:p>
                      <a:pPr lvl="0" indent="0" marL="0">
                        <a:buNone/>
                      </a:pPr>
                      <a:r>
                        <a:rPr b="1"/>
                        <a:t>מאיר</a:t>
                      </a:r>
                    </a:p>
                  </a:txBody>
                </a:tc>
                <a:tc>
                  <a:txBody>
                    <a:bodyPr/>
                    <a:lstStyle/>
                    <a:p>
                      <a:pPr lvl="0" indent="0" marL="0">
                        <a:buNone/>
                      </a:pPr>
                      <a:r>
                        <a:rPr/>
                        <a:t>5</a:t>
                      </a:r>
                    </a:p>
                  </a:txBody>
                </a:tc>
                <a:tc>
                  <a:txBody>
                    <a:bodyPr/>
                    <a:lstStyle/>
                    <a:p>
                      <a:pPr lvl="0" indent="0" marL="0">
                        <a:buNone/>
                      </a:pPr>
                      <a:r>
                        <a:rPr/>
                        <a:t>6.2</a:t>
                      </a:r>
                    </a:p>
                  </a:txBody>
                </a:tc>
                <a:tc>
                  <a:txBody>
                    <a:bodyPr/>
                    <a:lstStyle/>
                    <a:p>
                      <a:pPr lvl="0" indent="0" marL="0">
                        <a:buNone/>
                      </a:pPr>
                      <a:r>
                        <a:rPr/>
                        <a:t>-5</a:t>
                      </a:r>
                    </a:p>
                  </a:txBody>
                </a:tc>
              </a:tr>
              <a:tr h="0">
                <a:tc>
                  <a:txBody>
                    <a:bodyPr/>
                    <a:lstStyle/>
                    <a:p>
                      <a:pPr lvl="0" indent="0" marL="0">
                        <a:buNone/>
                      </a:pPr>
                      <a:r>
                        <a:rPr/>
                        <a:t>10</a:t>
                      </a:r>
                    </a:p>
                  </a:txBody>
                </a:tc>
                <a:tc>
                  <a:txBody>
                    <a:bodyPr/>
                    <a:lstStyle/>
                    <a:p>
                      <a:pPr lvl="0" indent="0" marL="0">
                        <a:buNone/>
                      </a:pPr>
                      <a:r>
                        <a:rPr b="1"/>
                        <a:t>פרס</a:t>
                      </a:r>
                    </a:p>
                  </a:txBody>
                </a:tc>
                <a:tc>
                  <a:txBody>
                    <a:bodyPr/>
                    <a:lstStyle/>
                    <a:p>
                      <a:pPr lvl="0" indent="0" marL="0">
                        <a:buNone/>
                      </a:pPr>
                      <a:r>
                        <a:rPr/>
                        <a:t>2.7</a:t>
                      </a:r>
                    </a:p>
                  </a:txBody>
                </a:tc>
                <a:tc>
                  <a:txBody>
                    <a:bodyPr/>
                    <a:lstStyle/>
                    <a:p>
                      <a:pPr lvl="0" indent="0" marL="0">
                        <a:buNone/>
                      </a:pPr>
                      <a:r>
                        <a:rPr/>
                        <a:t>6.0</a:t>
                      </a:r>
                    </a:p>
                  </a:txBody>
                </a:tc>
                <a:tc>
                  <a:txBody>
                    <a:bodyPr/>
                    <a:lstStyle/>
                    <a:p>
                      <a:pPr lvl="0" indent="0" marL="0">
                        <a:buNone/>
                      </a:pPr>
                      <a:r>
                        <a:rPr/>
                        <a:t>+7</a:t>
                      </a:r>
                    </a:p>
                  </a:txBody>
                </a:tc>
              </a:tr>
              <a:tr h="0">
                <a:tc>
                  <a:txBody>
                    <a:bodyPr/>
                    <a:lstStyle/>
                    <a:p>
                      <a:pPr lvl="0" indent="0" marL="0">
                        <a:buNone/>
                      </a:pPr>
                      <a:r>
                        <a:rPr/>
                        <a:t>11</a:t>
                      </a:r>
                    </a:p>
                  </a:txBody>
                </a:tc>
                <a:tc>
                  <a:txBody>
                    <a:bodyPr/>
                    <a:lstStyle/>
                    <a:p>
                      <a:pPr lvl="0" indent="0" marL="0">
                        <a:buNone/>
                      </a:pPr>
                      <a:r>
                        <a:rPr b="1"/>
                        <a:t>שמיר</a:t>
                      </a:r>
                    </a:p>
                  </a:txBody>
                </a:tc>
                <a:tc>
                  <a:txBody>
                    <a:bodyPr/>
                    <a:lstStyle/>
                    <a:p>
                      <a:pPr lvl="0" indent="0" marL="0">
                        <a:buNone/>
                      </a:pPr>
                      <a:r>
                        <a:rPr/>
                        <a:t>4.7</a:t>
                      </a:r>
                    </a:p>
                  </a:txBody>
                </a:tc>
                <a:tc>
                  <a:txBody>
                    <a:bodyPr/>
                    <a:lstStyle/>
                    <a:p>
                      <a:pPr lvl="0" indent="0" marL="0">
                        <a:buNone/>
                      </a:pPr>
                      <a:r>
                        <a:rPr/>
                        <a:t>5.5</a:t>
                      </a:r>
                    </a:p>
                  </a:txBody>
                </a:tc>
                <a:tc>
                  <a:txBody>
                    <a:bodyPr/>
                    <a:lstStyle/>
                    <a:p>
                      <a:pPr lvl="0" indent="0" marL="0">
                        <a:buNone/>
                      </a:pPr>
                      <a:r>
                        <a:rPr/>
                        <a:t>-7</a:t>
                      </a:r>
                    </a:p>
                  </a:txBody>
                </a:tc>
              </a:tr>
              <a:tr h="0">
                <a:tc>
                  <a:txBody>
                    <a:bodyPr/>
                    <a:lstStyle/>
                    <a:p>
                      <a:pPr lvl="0" indent="0" marL="0">
                        <a:buNone/>
                      </a:pPr>
                      <a:r>
                        <a:rPr/>
                        <a:t>12</a:t>
                      </a:r>
                    </a:p>
                  </a:txBody>
                </a:tc>
                <a:tc>
                  <a:txBody>
                    <a:bodyPr/>
                    <a:lstStyle/>
                    <a:p>
                      <a:pPr lvl="0" indent="0" marL="0">
                        <a:buNone/>
                      </a:pPr>
                      <a:r>
                        <a:rPr b="1"/>
                        <a:t>ברק</a:t>
                      </a:r>
                    </a:p>
                  </a:txBody>
                </a:tc>
                <a:tc>
                  <a:txBody>
                    <a:bodyPr/>
                    <a:lstStyle/>
                    <a:p>
                      <a:pPr lvl="0" indent="0" marL="0">
                        <a:buNone/>
                      </a:pPr>
                      <a:r>
                        <a:rPr/>
                        <a:t>1.6</a:t>
                      </a:r>
                    </a:p>
                  </a:txBody>
                </a:tc>
                <a:tc>
                  <a:txBody>
                    <a:bodyPr/>
                    <a:lstStyle/>
                    <a:p>
                      <a:pPr lvl="0" indent="0" marL="0">
                        <a:buNone/>
                      </a:pPr>
                      <a:r>
                        <a:rPr/>
                        <a:t>5.3</a:t>
                      </a:r>
                    </a:p>
                  </a:txBody>
                </a:tc>
                <a:tc>
                  <a:txBody>
                    <a:bodyPr/>
                    <a:lstStyle/>
                    <a:p>
                      <a:pPr lvl="0" indent="0" marL="0">
                        <a:buNone/>
                      </a:pPr>
                      <a:r>
                        <a:rPr/>
                        <a:t>-3</a:t>
                      </a:r>
                    </a:p>
                  </a:txBody>
                </a:tc>
              </a:tr>
              <a:tr h="0">
                <a:tc>
                  <a:txBody>
                    <a:bodyPr/>
                    <a:lstStyle/>
                    <a:p>
                      <a:pPr lvl="0" indent="0" marL="0">
                        <a:buNone/>
                      </a:pPr>
                      <a:r>
                        <a:rPr/>
                        <a:t>13</a:t>
                      </a:r>
                    </a:p>
                  </a:txBody>
                </a:tc>
                <a:tc>
                  <a:txBody>
                    <a:bodyPr/>
                    <a:lstStyle/>
                    <a:p>
                      <a:pPr lvl="0" indent="0" marL="0">
                        <a:buNone/>
                      </a:pPr>
                      <a:r>
                        <a:rPr b="1"/>
                        <a:t>אולמרט</a:t>
                      </a:r>
                    </a:p>
                  </a:txBody>
                </a:tc>
                <a:tc>
                  <a:txBody>
                    <a:bodyPr/>
                    <a:lstStyle/>
                    <a:p>
                      <a:pPr lvl="0" indent="0" marL="0">
                        <a:buNone/>
                      </a:pPr>
                      <a:r>
                        <a:rPr/>
                        <a:t>2.9</a:t>
                      </a:r>
                    </a:p>
                  </a:txBody>
                </a:tc>
                <a:tc>
                  <a:txBody>
                    <a:bodyPr/>
                    <a:lstStyle/>
                    <a:p>
                      <a:pPr lvl="0" indent="0" marL="0">
                        <a:buNone/>
                      </a:pPr>
                      <a:r>
                        <a:rPr/>
                        <a:t>4.8</a:t>
                      </a:r>
                    </a:p>
                  </a:txBody>
                </a:tc>
                <a:tc>
                  <a:txBody>
                    <a:bodyPr/>
                    <a:lstStyle/>
                    <a:p>
                      <a:pPr lvl="0" indent="0" marL="0">
                        <a:buNone/>
                      </a:pPr>
                      <a:r>
                        <a:rPr/>
                        <a:t>-6</a:t>
                      </a:r>
                    </a:p>
                  </a:txBody>
                </a:tc>
              </a:tr>
              <a:tr h="0">
                <a:tc>
                  <a:txBody>
                    <a:bodyPr/>
                    <a:lstStyle/>
                    <a:p>
                      <a:pPr lvl="0" indent="0" marL="0">
                        <a:buNone/>
                      </a:pPr>
                      <a:r>
                        <a:rPr/>
                        <a:t>14</a:t>
                      </a:r>
                    </a:p>
                  </a:txBody>
                </a:tc>
                <a:tc>
                  <a:txBody>
                    <a:bodyPr/>
                    <a:lstStyle/>
                    <a:p>
                      <a:pPr lvl="0" indent="0" marL="0">
                        <a:buNone/>
                      </a:pPr>
                      <a:r>
                        <a:rPr b="1"/>
                        <a:t>נתניהו (1)</a:t>
                      </a:r>
                    </a:p>
                  </a:txBody>
                </a:tc>
                <a:tc>
                  <a:txBody>
                    <a:bodyPr/>
                    <a:lstStyle/>
                    <a:p>
                      <a:pPr lvl="0" indent="0" marL="0">
                        <a:buNone/>
                      </a:pPr>
                      <a:r>
                        <a:rPr/>
                        <a:t>3</a:t>
                      </a:r>
                    </a:p>
                  </a:txBody>
                </a:tc>
                <a:tc>
                  <a:txBody>
                    <a:bodyPr/>
                    <a:lstStyle/>
                    <a:p>
                      <a:pPr lvl="0" indent="0" marL="0">
                        <a:buNone/>
                      </a:pPr>
                      <a:r>
                        <a:rPr/>
                        <a:t>4.6</a:t>
                      </a:r>
                    </a:p>
                  </a:txBody>
                </a:tc>
                <a:tc>
                  <a:txBody>
                    <a:bodyPr/>
                    <a:lstStyle/>
                    <a:p>
                      <a:pPr lvl="0" indent="0" marL="0">
                        <a:buNone/>
                      </a:pPr>
                      <a:r>
                        <a:rPr/>
                        <a:t>-6</a:t>
                      </a:r>
                    </a:p>
                  </a:txBody>
                </a:tc>
              </a:tr>
              <a:tr h="0">
                <a:tc>
                  <a:txBody>
                    <a:bodyPr/>
                    <a:lstStyle/>
                    <a:p>
                      <a:pPr lvl="0" indent="0" marL="0">
                        <a:buNone/>
                      </a:pPr>
                      <a:r>
                        <a:rPr/>
                        <a:t>15</a:t>
                      </a:r>
                    </a:p>
                  </a:txBody>
                </a:tc>
                <a:tc>
                  <a:txBody>
                    <a:bodyPr/>
                    <a:lstStyle/>
                    <a:p>
                      <a:pPr lvl="0" indent="0" marL="0">
                        <a:buNone/>
                      </a:pPr>
                      <a:r>
                        <a:rPr b="1"/>
                        <a:t>נתניהו (2-5)</a:t>
                      </a:r>
                    </a:p>
                  </a:txBody>
                </a:tc>
                <a:tc>
                  <a:txBody>
                    <a:bodyPr/>
                    <a:lstStyle/>
                    <a:p>
                      <a:pPr lvl="0" indent="0" marL="0">
                        <a:buNone/>
                      </a:pPr>
                      <a:r>
                        <a:rPr/>
                        <a:t>12</a:t>
                      </a:r>
                    </a:p>
                  </a:txBody>
                </a:tc>
                <a:tc>
                  <a:txBody>
                    <a:bodyPr/>
                    <a:lstStyle/>
                    <a:p>
                      <a:pPr lvl="0" indent="0" marL="0">
                        <a:buNone/>
                      </a:pPr>
                      <a:r>
                        <a:rPr/>
                        <a:t>3.9</a:t>
                      </a:r>
                    </a:p>
                  </a:txBody>
                </a:tc>
                <a:tc>
                  <a:txBody>
                    <a:bodyPr/>
                    <a:lstStyle/>
                    <a:p>
                      <a:pPr lvl="0" indent="0" marL="0">
                        <a:buNone/>
                      </a:pPr>
                      <a:r>
                        <a:rPr/>
                        <a:t>-168</a:t>
                      </a:r>
                    </a:p>
                  </a:txBody>
                </a:tc>
              </a:tr>
              <a:tr h="0">
                <a:tc>
                  <a:txBody>
                    <a:bodyPr/>
                    <a:lstStyle/>
                    <a:p>
                      <a:pPr lvl="0" indent="0" marL="0">
                        <a:buNone/>
                      </a:pPr>
                      <a:r>
                        <a:rPr/>
                        <a:t>🚨 16</a:t>
                      </a:r>
                    </a:p>
                  </a:txBody>
                </a:tc>
                <a:tc>
                  <a:txBody>
                    <a:bodyPr/>
                    <a:lstStyle/>
                    <a:p>
                      <a:pPr lvl="0" indent="0" marL="0">
                        <a:buNone/>
                      </a:pPr>
                      <a:r>
                        <a:rPr b="1"/>
                        <a:t>נתניהו (6)</a:t>
                      </a:r>
                    </a:p>
                  </a:txBody>
                </a:tc>
                <a:tc>
                  <a:txBody>
                    <a:bodyPr/>
                    <a:lstStyle/>
                    <a:p>
                      <a:pPr lvl="0" indent="0" marL="0">
                        <a:buNone/>
                      </a:pPr>
                      <a:r>
                        <a:rPr/>
                        <a:t>4</a:t>
                      </a:r>
                    </a:p>
                  </a:txBody>
                </a:tc>
                <a:tc>
                  <a:txBody>
                    <a:bodyPr/>
                    <a:lstStyle/>
                    <a:p>
                      <a:pPr lvl="0" indent="0" marL="0">
                        <a:buNone/>
                      </a:pPr>
                      <a:r>
                        <a:rPr b="1"/>
                        <a:t>2.0</a:t>
                      </a:r>
                    </a:p>
                  </a:txBody>
                </a:tc>
                <a:tc>
                  <a:txBody>
                    <a:bodyPr/>
                    <a:lstStyle/>
                    <a:p>
                      <a:pPr lvl="0" indent="0" marL="0">
                        <a:buNone/>
                      </a:pPr>
                      <a:r>
                        <a:rPr b="1"/>
                        <a:t>-170</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3.2 “ההפרש ההיסטורי”</a:t>
            </a:r>
          </a:p>
          <a:p>
            <a:pPr lvl="0" indent="0" marL="0">
              <a:buNone/>
            </a:pPr>
            <a:r>
              <a:rPr b="1"/>
              <a:t>בן-גוריון (14 שנים)</a:t>
            </a:r>
            <a:r>
              <a:rPr/>
              <a:t>: NFI מצטבר </a:t>
            </a:r>
            <a:r>
              <a:rPr b="1"/>
              <a:t>+₪198B</a:t>
            </a:r>
            <a:r>
              <a:rPr/>
              <a:t> (+7% מתוצר) </a:t>
            </a:r>
            <a:r>
              <a:rPr b="1"/>
              <a:t>נתניהו (19 שנים)</a:t>
            </a:r>
            <a:r>
              <a:rPr/>
              <a:t>: NFI מצטבר </a:t>
            </a:r>
            <a:r>
              <a:rPr b="1"/>
              <a:t>-₪666B</a:t>
            </a:r>
            <a:r>
              <a:rPr/>
              <a:t> (-30% מתוצר) </a:t>
            </a:r>
            <a:r>
              <a:rPr b="1"/>
              <a:t>הפרש</a:t>
            </a:r>
            <a:r>
              <a:rPr/>
              <a:t>: </a:t>
            </a:r>
            <a:r>
              <a:rPr b="1"/>
              <a:t>₪864 מיליארד</a:t>
            </a:r>
            <a:r>
              <a:rPr/>
              <a:t> = </a:t>
            </a:r>
            <a:r>
              <a:rPr b="1"/>
              <a:t>39% מתוצר ישראל 2026</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4: 5 הממצאים הדרמטיים</a:t>
            </a:r>
          </a:p>
        </p:txBody>
      </p:sp>
      <p:sp>
        <p:nvSpPr>
          <p:cNvPr id="4" name="Text Placeholder 3"/>
          <p:cNvSpPr>
            <a:spLocks noGrp="1"/>
          </p:cNvSpPr>
          <p:nvPr>
            <p:ph idx="2" sz="half" type="body"/>
          </p:nvPr>
        </p:nvSpPr>
        <p:spPr/>
        <p:txBody>
          <a:bodyPr/>
          <a:lstStyle/>
          <a:p>
            <a:pPr lvl="0" indent="0" marL="0">
              <a:spcBef>
                <a:spcPts val="3000"/>
              </a:spcBef>
              <a:buNone/>
            </a:pPr>
            <a:r>
              <a:rPr b="1"/>
              <a:t>4.1 ממצא 1 — “פי 170 הפרש פרקטלי”</a:t>
            </a:r>
          </a:p>
          <a:p>
            <a:pPr lvl="0" indent="0">
              <a:buNone/>
            </a:pPr>
            <a:r>
              <a:rPr>
                <a:latin typeface="Courier"/>
              </a:rPr>
              <a:t>F ישראל:
1948 (בן-גוריון זמנית):  100
2026 (נתניהו 6):          0.6
הפרש:                    פי 170</a:t>
            </a:r>
          </a:p>
          <a:p>
            <a:pPr lvl="0" indent="0" marL="0">
              <a:spcBef>
                <a:spcPts val="3000"/>
              </a:spcBef>
              <a:buNone/>
            </a:pPr>
            <a:r>
              <a:rPr b="1"/>
              <a:t>4.2 ממצא 2 — ישראל 2026 בקריסה</a:t>
            </a:r>
          </a:p>
          <a:p>
            <a:pPr lvl="0" indent="0" marL="0">
              <a:buNone/>
            </a:pPr>
            <a:r>
              <a:rPr b="1"/>
              <a:t>35% מהמוסדות כבר בקריסה</a:t>
            </a:r>
            <a:r>
              <a:rPr/>
              <a:t>: - 🚨 משטרה (F=5) - 🚨 פיקוד דרום (F=8) - 🚨 פרקליטות (F=8) - 🚨 רבנות (F=8) - 🚨 רשות הדואר (F=6) - 🚨 עמידר (F=5) - 🚨 מערכת החינוך (F=10) - 🚨 מערכת הרווחה (F=10)</a:t>
            </a:r>
          </a:p>
          <a:p>
            <a:pPr lvl="0" indent="0" marL="0">
              <a:buNone/>
            </a:pPr>
            <a:r>
              <a:rPr b="1"/>
              <a:t>65% מהמגזרים בקריסה</a:t>
            </a:r>
            <a:r>
              <a:rPr/>
              <a:t>: - 🚨 פלסטינים בעזה (F=0.1) - 🚨 בדואים (F=1) - 🚨 חילוני ילידי (F=1.7) - 🚨 ערבים מוסלמים (F=2.5)</a:t>
            </a:r>
          </a:p>
          <a:p>
            <a:pPr lvl="0" indent="0" marL="0">
              <a:spcBef>
                <a:spcPts val="3000"/>
              </a:spcBef>
              <a:buNone/>
            </a:pPr>
            <a:r>
              <a:rPr b="1"/>
              <a:t>4.3 ממצא 3 — פיזור קוסמי בין מגזרים</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מגזר</a:t>
                      </a:r>
                    </a:p>
                  </a:txBody>
                  <a:tcPr/>
                </a:tc>
                <a:tc>
                  <a:txBody>
                    <a:bodyPr/>
                    <a:lstStyle/>
                    <a:p>
                      <a:pPr lvl="0" indent="0" marL="0">
                        <a:buNone/>
                      </a:pPr>
                      <a:r>
                        <a:rPr/>
                        <a:t>F</a:t>
                      </a:r>
                    </a:p>
                  </a:txBody>
                  <a:tcPr/>
                </a:tc>
              </a:tr>
              <a:tr h="0">
                <a:tc>
                  <a:txBody>
                    <a:bodyPr/>
                    <a:lstStyle/>
                    <a:p>
                      <a:pPr lvl="0" indent="0" marL="0">
                        <a:buNone/>
                      </a:pPr>
                      <a:r>
                        <a:rPr/>
                        <a:t>🥇 </a:t>
                      </a:r>
                      <a:r>
                        <a:rPr b="1"/>
                        <a:t>מתנחלים</a:t>
                      </a:r>
                    </a:p>
                  </a:txBody>
                </a:tc>
                <a:tc>
                  <a:txBody>
                    <a:bodyPr/>
                    <a:lstStyle/>
                    <a:p>
                      <a:pPr lvl="0" indent="0" marL="0">
                        <a:buNone/>
                      </a:pPr>
                      <a:r>
                        <a:rPr b="1"/>
                        <a:t>26.7</a:t>
                      </a:r>
                    </a:p>
                  </a:txBody>
                </a:tc>
              </a:tr>
              <a:tr h="0">
                <a:tc>
                  <a:txBody>
                    <a:bodyPr/>
                    <a:lstStyle/>
                    <a:p>
                      <a:pPr lvl="0" indent="0" marL="0">
                        <a:buNone/>
                      </a:pPr>
                      <a:r>
                        <a:rPr b="1"/>
                        <a:t>חרדים</a:t>
                      </a:r>
                    </a:p>
                  </a:txBody>
                </a:tc>
                <a:tc>
                  <a:txBody>
                    <a:bodyPr/>
                    <a:lstStyle/>
                    <a:p>
                      <a:pPr lvl="0" indent="0" marL="0">
                        <a:buNone/>
                      </a:pPr>
                      <a:r>
                        <a:rPr/>
                        <a:t>15</a:t>
                      </a:r>
                    </a:p>
                  </a:txBody>
                </a:tc>
              </a:tr>
              <a:tr h="0">
                <a:tc>
                  <a:txBody>
                    <a:bodyPr/>
                    <a:lstStyle/>
                    <a:p>
                      <a:pPr lvl="0" indent="0" marL="0">
                        <a:buNone/>
                      </a:pPr>
                      <a:r>
                        <a:rPr/>
                        <a:t>ציונות דתית</a:t>
                      </a:r>
                    </a:p>
                  </a:txBody>
                </a:tc>
                <a:tc>
                  <a:txBody>
                    <a:bodyPr/>
                    <a:lstStyle/>
                    <a:p>
                      <a:pPr lvl="0" indent="0" marL="0">
                        <a:buNone/>
                      </a:pPr>
                      <a:r>
                        <a:rPr/>
                        <a:t>13.5</a:t>
                      </a:r>
                    </a:p>
                  </a:txBody>
                </a:tc>
              </a:tr>
              <a:tr h="0">
                <a:tc>
                  <a:txBody>
                    <a:bodyPr/>
                    <a:lstStyle/>
                    <a:p>
                      <a:pPr lvl="0" indent="0" marL="0">
                        <a:buNone/>
                      </a:pPr>
                      <a:r>
                        <a:rPr/>
                        <a:t>…</a:t>
                      </a:r>
                    </a:p>
                  </a:txBody>
                </a:tc>
                <a:tc>
                  <a:txBody>
                    <a:bodyPr/>
                    <a:lstStyle/>
                    <a:p>
                      <a:pPr lvl="0" indent="0" marL="0">
                        <a:buNone/>
                      </a:pPr>
                      <a:r>
                        <a:rPr/>
                        <a:t>…</a:t>
                      </a:r>
                    </a:p>
                  </a:txBody>
                </a:tc>
              </a:tr>
              <a:tr h="0">
                <a:tc>
                  <a:txBody>
                    <a:bodyPr/>
                    <a:lstStyle/>
                    <a:p>
                      <a:pPr lvl="0" indent="0" marL="0">
                        <a:buNone/>
                      </a:pPr>
                      <a:r>
                        <a:rPr b="1"/>
                        <a:t>חילוני ילידי</a:t>
                      </a:r>
                    </a:p>
                  </a:txBody>
                </a:tc>
                <a:tc>
                  <a:txBody>
                    <a:bodyPr/>
                    <a:lstStyle/>
                    <a:p>
                      <a:pPr lvl="0" indent="0" marL="0">
                        <a:buNone/>
                      </a:pPr>
                      <a:r>
                        <a:rPr/>
                        <a:t>1.7</a:t>
                      </a:r>
                    </a:p>
                  </a:txBody>
                </a:tc>
              </a:tr>
              <a:tr h="0">
                <a:tc>
                  <a:txBody>
                    <a:bodyPr/>
                    <a:lstStyle/>
                    <a:p>
                      <a:pPr lvl="0" indent="0" marL="0">
                        <a:buNone/>
                      </a:pPr>
                      <a:r>
                        <a:rPr b="1"/>
                        <a:t>ערבים מוסלמים</a:t>
                      </a:r>
                    </a:p>
                  </a:txBody>
                </a:tc>
                <a:tc>
                  <a:txBody>
                    <a:bodyPr/>
                    <a:lstStyle/>
                    <a:p>
                      <a:pPr lvl="0" indent="0" marL="0">
                        <a:buNone/>
                      </a:pPr>
                      <a:r>
                        <a:rPr/>
                        <a:t>2.5</a:t>
                      </a:r>
                    </a:p>
                  </a:txBody>
                </a:tc>
              </a:tr>
              <a:tr h="0">
                <a:tc>
                  <a:txBody>
                    <a:bodyPr/>
                    <a:lstStyle/>
                    <a:p>
                      <a:pPr lvl="0" indent="0" marL="0">
                        <a:buNone/>
                      </a:pPr>
                      <a:r>
                        <a:rPr b="1"/>
                        <a:t>בדואים</a:t>
                      </a:r>
                    </a:p>
                  </a:txBody>
                </a:tc>
                <a:tc>
                  <a:txBody>
                    <a:bodyPr/>
                    <a:lstStyle/>
                    <a:p>
                      <a:pPr lvl="0" indent="0" marL="0">
                        <a:buNone/>
                      </a:pPr>
                      <a:r>
                        <a:rPr/>
                        <a:t>1.0</a:t>
                      </a:r>
                    </a:p>
                  </a:txBody>
                </a:tc>
              </a:tr>
              <a:tr h="0">
                <a:tc>
                  <a:txBody>
                    <a:bodyPr/>
                    <a:lstStyle/>
                    <a:p>
                      <a:pPr lvl="0" indent="0" marL="0">
                        <a:buNone/>
                      </a:pPr>
                      <a:r>
                        <a:rPr/>
                        <a:t>🚨 </a:t>
                      </a:r>
                      <a:r>
                        <a:rPr b="1"/>
                        <a:t>פלסטינים (עזה)</a:t>
                      </a:r>
                    </a:p>
                  </a:txBody>
                </a:tc>
                <a:tc>
                  <a:txBody>
                    <a:bodyPr/>
                    <a:lstStyle/>
                    <a:p>
                      <a:pPr lvl="0" indent="0" marL="0">
                        <a:buNone/>
                      </a:pPr>
                      <a:r>
                        <a:rPr b="1"/>
                        <a:t>0.1</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שונות: ×267</a:t>
            </a:r>
            <a:r>
              <a:rPr/>
              <a:t> — </a:t>
            </a:r>
            <a:r>
              <a:rPr b="1"/>
              <a:t>ישראל+פלסטין היא החברה הכי מפולגת בעולם</a:t>
            </a:r>
            <a:r>
              <a:rPr/>
              <a:t>.</a:t>
            </a:r>
          </a:p>
          <a:p>
            <a:pPr lvl="0" indent="0" marL="0">
              <a:spcBef>
                <a:spcPts val="3000"/>
              </a:spcBef>
              <a:buNone/>
            </a:pPr>
            <a:r>
              <a:rPr b="1"/>
              <a:t>4.4 ממצא 4 — ה”פעולה” הפרקטלית של נתניהו</a:t>
            </a:r>
          </a:p>
          <a:p>
            <a:pPr lvl="0" indent="0" marL="0">
              <a:buNone/>
            </a:pPr>
            <a:r>
              <a:rPr b="1"/>
              <a:t>נתניהו (19 שנים בשלטון)</a:t>
            </a:r>
            <a:r>
              <a:rPr/>
              <a:t>: - ציון ממוצע: </a:t>
            </a:r>
            <a:r>
              <a:rPr b="1"/>
              <a:t>3.4</a:t>
            </a:r>
            <a:r>
              <a:rPr/>
              <a:t> (הנמוך בהיסטוריה) - NFI מצטבר: </a:t>
            </a:r>
            <a:r>
              <a:rPr b="1"/>
              <a:t>-₪666B</a:t>
            </a:r>
            <a:r>
              <a:rPr/>
              <a:t> - נזק עקיף: </a:t>
            </a:r>
            <a:r>
              <a:rPr b="1"/>
              <a:t>-₪210B</a:t>
            </a:r>
            <a:r>
              <a:rPr/>
              <a:t> - חוב שהוסף: </a:t>
            </a:r>
            <a:r>
              <a:rPr b="1"/>
              <a:t>-₪735B</a:t>
            </a:r>
            <a:r>
              <a:rPr/>
              <a:t> - </a:t>
            </a:r>
            <a:r>
              <a:rPr b="1"/>
              <a:t>סה”כ נזק</a:t>
            </a:r>
            <a:r>
              <a:rPr/>
              <a:t>: </a:t>
            </a:r>
            <a:r>
              <a:rPr b="1"/>
              <a:t>₪2,062 מיליארד</a:t>
            </a:r>
            <a:r>
              <a:rPr/>
              <a:t> = </a:t>
            </a:r>
            <a:r>
              <a:rPr b="1"/>
              <a:t>93% מתוצר שנתי</a:t>
            </a:r>
          </a:p>
          <a:p>
            <a:pPr lvl="0" indent="0" marL="0">
              <a:buNone/>
            </a:pPr>
            <a:r>
              <a:rPr b="1"/>
              <a:t>מתוך 10 הגרועות ביותר ב-NSV — 7 הן של נתניהו</a:t>
            </a:r>
            <a:r>
              <a:rPr/>
              <a:t>.</a:t>
            </a:r>
          </a:p>
          <a:p>
            <a:pPr lvl="0" indent="0" marL="0">
              <a:spcBef>
                <a:spcPts val="3000"/>
              </a:spcBef>
              <a:buNone/>
            </a:pPr>
            <a:r>
              <a:rPr b="1"/>
              <a:t>4.5 ממצא 5 — האזרח חזק פי 14 מהממשלה</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רמה</a:t>
                      </a:r>
                    </a:p>
                  </a:txBody>
                  <a:tcPr/>
                </a:tc>
                <a:tc>
                  <a:txBody>
                    <a:bodyPr/>
                    <a:lstStyle/>
                    <a:p>
                      <a:pPr lvl="0" indent="0" marL="0">
                        <a:buNone/>
                      </a:pPr>
                      <a:r>
                        <a:rPr/>
                        <a:t>F</a:t>
                      </a:r>
                    </a:p>
                  </a:txBody>
                  <a:tcPr/>
                </a:tc>
              </a:tr>
              <a:tr h="0">
                <a:tc>
                  <a:txBody>
                    <a:bodyPr/>
                    <a:lstStyle/>
                    <a:p>
                      <a:pPr lvl="0" indent="0" marL="0">
                        <a:buNone/>
                      </a:pPr>
                      <a:r>
                        <a:rPr/>
                        <a:t>אזרח ישראלי טיפוסי</a:t>
                      </a:r>
                    </a:p>
                  </a:txBody>
                </a:tc>
                <a:tc>
                  <a:txBody>
                    <a:bodyPr/>
                    <a:lstStyle/>
                    <a:p>
                      <a:pPr lvl="0" indent="0" marL="0">
                        <a:buNone/>
                      </a:pPr>
                      <a:r>
                        <a:rPr b="1"/>
                        <a:t>8.5</a:t>
                      </a:r>
                    </a:p>
                  </a:txBody>
                </a:tc>
              </a:tr>
              <a:tr h="0">
                <a:tc>
                  <a:txBody>
                    <a:bodyPr/>
                    <a:lstStyle/>
                    <a:p>
                      <a:pPr lvl="0" indent="0" marL="0">
                        <a:buNone/>
                      </a:pPr>
                      <a:r>
                        <a:rPr/>
                        <a:t>חברה פרטית חזקה</a:t>
                      </a:r>
                    </a:p>
                  </a:txBody>
                </a:tc>
                <a:tc>
                  <a:txBody>
                    <a:bodyPr/>
                    <a:lstStyle/>
                    <a:p>
                      <a:pPr lvl="0" indent="0" marL="0">
                        <a:buNone/>
                      </a:pPr>
                      <a:r>
                        <a:rPr/>
                        <a:t>9.0</a:t>
                      </a:r>
                    </a:p>
                  </a:txBody>
                </a:tc>
              </a:tr>
              <a:tr h="0">
                <a:tc>
                  <a:txBody>
                    <a:bodyPr/>
                    <a:lstStyle/>
                    <a:p>
                      <a:pPr lvl="0" indent="0" marL="0">
                        <a:buNone/>
                      </a:pPr>
                      <a:r>
                        <a:rPr/>
                        <a:t>צה”ל (לוחם)</a:t>
                      </a:r>
                    </a:p>
                  </a:txBody>
                </a:tc>
                <a:tc>
                  <a:txBody>
                    <a:bodyPr/>
                    <a:lstStyle/>
                    <a:p>
                      <a:pPr lvl="0" indent="0" marL="0">
                        <a:buNone/>
                      </a:pPr>
                      <a:r>
                        <a:rPr/>
                        <a:t>7.5</a:t>
                      </a:r>
                    </a:p>
                  </a:txBody>
                </a:tc>
              </a:tr>
              <a:tr h="0">
                <a:tc>
                  <a:txBody>
                    <a:bodyPr/>
                    <a:lstStyle/>
                    <a:p>
                      <a:pPr lvl="0" indent="0" marL="0">
                        <a:buNone/>
                      </a:pPr>
                      <a:r>
                        <a:rPr/>
                        <a:t>בי”ד עליון</a:t>
                      </a:r>
                    </a:p>
                  </a:txBody>
                </a:tc>
                <a:tc>
                  <a:txBody>
                    <a:bodyPr/>
                    <a:lstStyle/>
                    <a:p>
                      <a:pPr lvl="0" indent="0" marL="0">
                        <a:buNone/>
                      </a:pPr>
                      <a:r>
                        <a:rPr/>
                        <a:t>8.5</a:t>
                      </a:r>
                    </a:p>
                  </a:txBody>
                </a:tc>
              </a:tr>
              <a:tr h="0">
                <a:tc>
                  <a:txBody>
                    <a:bodyPr/>
                    <a:lstStyle/>
                    <a:p>
                      <a:pPr lvl="0" indent="0" marL="0">
                        <a:buNone/>
                      </a:pPr>
                      <a:r>
                        <a:rPr/>
                        <a:t>המוסד</a:t>
                      </a:r>
                    </a:p>
                  </a:txBody>
                </a:tc>
                <a:tc>
                  <a:txBody>
                    <a:bodyPr/>
                    <a:lstStyle/>
                    <a:p>
                      <a:pPr lvl="0" indent="0" marL="0">
                        <a:buNone/>
                      </a:pPr>
                      <a:r>
                        <a:rPr/>
                        <a:t>8.0</a:t>
                      </a:r>
                    </a:p>
                  </a:txBody>
                </a:tc>
              </a:tr>
              <a:tr h="0">
                <a:tc>
                  <a:txBody>
                    <a:bodyPr/>
                    <a:lstStyle/>
                    <a:p>
                      <a:pPr lvl="0" indent="0" marL="0">
                        <a:buNone/>
                      </a:pPr>
                      <a:r>
                        <a:rPr/>
                        <a:t>מערכות ציבור ממוצעות</a:t>
                      </a:r>
                    </a:p>
                  </a:txBody>
                </a:tc>
                <a:tc>
                  <a:txBody>
                    <a:bodyPr/>
                    <a:lstStyle/>
                    <a:p>
                      <a:pPr lvl="0" indent="0" marL="0">
                        <a:buNone/>
                      </a:pPr>
                      <a:r>
                        <a:rPr/>
                        <a:t>4.9</a:t>
                      </a:r>
                    </a:p>
                  </a:txBody>
                </a:tc>
              </a:tr>
              <a:tr h="0">
                <a:tc>
                  <a:txBody>
                    <a:bodyPr/>
                    <a:lstStyle/>
                    <a:p>
                      <a:pPr lvl="0" indent="0" marL="0">
                        <a:buNone/>
                      </a:pPr>
                      <a:r>
                        <a:rPr/>
                        <a:t>ממשלה 37</a:t>
                      </a:r>
                    </a:p>
                  </a:txBody>
                </a:tc>
                <a:tc>
                  <a:txBody>
                    <a:bodyPr/>
                    <a:lstStyle/>
                    <a:p>
                      <a:pPr lvl="0" indent="0" marL="0">
                        <a:buNone/>
                      </a:pPr>
                      <a:r>
                        <a:rPr/>
                        <a:t>3.3</a:t>
                      </a:r>
                    </a:p>
                  </a:txBody>
                </a:tc>
              </a:tr>
              <a:tr h="0">
                <a:tc>
                  <a:txBody>
                    <a:bodyPr/>
                    <a:lstStyle/>
                    <a:p>
                      <a:pPr lvl="0" indent="0" marL="0">
                        <a:buNone/>
                      </a:pPr>
                      <a:r>
                        <a:rPr b="1"/>
                        <a:t>רה”מ (נתניהו 6)</a:t>
                      </a:r>
                    </a:p>
                  </a:txBody>
                </a:tc>
                <a:tc>
                  <a:txBody>
                    <a:bodyPr/>
                    <a:lstStyle/>
                    <a:p>
                      <a:pPr lvl="0" indent="0" marL="0">
                        <a:buNone/>
                      </a:pPr>
                      <a:r>
                        <a:rPr b="1"/>
                        <a:t>0.6</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יחס אזרח/ממשלה: ×14</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5: 14 חוקים פרקטליים שהתגלו</a:t>
            </a:r>
          </a:p>
        </p:txBody>
      </p:sp>
      <p:sp>
        <p:nvSpPr>
          <p:cNvPr id="3" name="Content Placeholder 2"/>
          <p:cNvSpPr>
            <a:spLocks noGrp="1"/>
          </p:cNvSpPr>
          <p:nvPr>
            <p:ph idx="1"/>
          </p:nvPr>
        </p:nvSpPr>
        <p:spPr/>
        <p:txBody>
          <a:bodyPr/>
          <a:lstStyle/>
          <a:p>
            <a:pPr lvl="0" indent="0" marL="0">
              <a:spcBef>
                <a:spcPts val="3000"/>
              </a:spcBef>
              <a:buNone/>
            </a:pPr>
            <a:r>
              <a:rPr b="1"/>
              <a:t>5.1 חוקים מערכתיים</a:t>
            </a:r>
          </a:p>
          <a:p>
            <a:pPr lvl="0" indent="0" marL="0">
              <a:buNone/>
            </a:pPr>
            <a:r>
              <a:rPr b="1"/>
              <a:t>חוק 1 — סכום-אפס מגזרי</a:t>
            </a:r>
            <a:r>
              <a:rPr/>
              <a:t>: ΣF של 17 המגזרים ≈ 100 (קבוע) </a:t>
            </a:r>
            <a:r>
              <a:rPr b="1"/>
              <a:t>חוק 2 — נתניהוזציה</a:t>
            </a:r>
            <a:r>
              <a:rPr/>
              <a:t>: ציון = 7 × 0.85^(קדנציה-1) </a:t>
            </a:r>
            <a:r>
              <a:rPr b="1"/>
              <a:t>חוק 3 — הגיל</a:t>
            </a:r>
            <a:r>
              <a:rPr/>
              <a:t>: ציון = 10 − 0.1 × (גיל רה”מ − 50) </a:t>
            </a:r>
            <a:r>
              <a:rPr b="1"/>
              <a:t>חוק 4 — הקואליציה</a:t>
            </a:r>
            <a:r>
              <a:rPr/>
              <a:t>: F = (מנדטים / 60) × 10 </a:t>
            </a:r>
            <a:r>
              <a:rPr b="1"/>
              <a:t>חוק 5 — הבזבוז</a:t>
            </a:r>
            <a:r>
              <a:rPr/>
              <a:t>: W = W₀ × 2^(קדנציה-1) </a:t>
            </a:r>
            <a:r>
              <a:rPr b="1"/>
              <a:t>חוק 6 — המינוי</a:t>
            </a:r>
            <a:r>
              <a:rPr/>
              <a:t>: QS = QS₀ × (1 − 0.2 × שחיתות) </a:t>
            </a:r>
            <a:r>
              <a:rPr b="1"/>
              <a:t>חוק 7 — הפרמידה</a:t>
            </a:r>
            <a:r>
              <a:rPr/>
              <a:t>: נזק מכפיל ×10 בכל רמה שעולים </a:t>
            </a:r>
            <a:r>
              <a:rPr b="1"/>
              <a:t>חוק 8 — BE</a:t>
            </a:r>
            <a:r>
              <a:rPr/>
              <a:t>: ביצוע תקציב גדל ככל שעולים בפירמידת הפוליטיקה </a:t>
            </a:r>
            <a:r>
              <a:rPr b="1"/>
              <a:t>חוק 9 — ID</a:t>
            </a:r>
            <a:r>
              <a:rPr/>
              <a:t>: ID = 500 / I³ </a:t>
            </a:r>
            <a:r>
              <a:rPr b="1"/>
              <a:t>חוק 10 — החוב-כוח</a:t>
            </a:r>
            <a:r>
              <a:rPr/>
              <a:t>: חוב/שנה = ₪1B × קדנציה²</a:t>
            </a:r>
          </a:p>
          <a:p>
            <a:pPr lvl="0" indent="0" marL="0">
              <a:spcBef>
                <a:spcPts val="3000"/>
              </a:spcBef>
              <a:buNone/>
            </a:pPr>
            <a:r>
              <a:rPr b="1"/>
              <a:t>5.2 חוקים חברתיים</a:t>
            </a:r>
          </a:p>
          <a:p>
            <a:pPr lvl="0" indent="0" marL="0">
              <a:buNone/>
            </a:pPr>
            <a:r>
              <a:rPr b="1"/>
              <a:t>חוק 11 — הדורי</a:t>
            </a:r>
            <a:r>
              <a:rPr/>
              <a:t>: F = 8 − 0.5 × (מספר דור − 1) </a:t>
            </a:r>
            <a:r>
              <a:rPr b="1"/>
              <a:t>חוק 12 — האמון</a:t>
            </a:r>
            <a:r>
              <a:rPr/>
              <a:t>: F = f(אמון × שקיפות × עצמאות) </a:t>
            </a:r>
            <a:r>
              <a:rPr b="1"/>
              <a:t>חוק 13 — המחזוריות</a:t>
            </a:r>
            <a:r>
              <a:rPr/>
              <a:t>: ישראל חווה משבר כל 5-8 שנים </a:t>
            </a:r>
            <a:r>
              <a:rPr b="1"/>
              <a:t>חוק 14 — הרשתות</a:t>
            </a:r>
            <a:r>
              <a:rPr/>
              <a:t>: 500 איש שולטים על 10M</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6: 5 הנושאים המרכזיים שנחקרו</a:t>
            </a:r>
          </a:p>
        </p:txBody>
      </p:sp>
      <p:sp>
        <p:nvSpPr>
          <p:cNvPr id="3" name="Content Placeholder 2"/>
          <p:cNvSpPr>
            <a:spLocks noGrp="1"/>
          </p:cNvSpPr>
          <p:nvPr>
            <p:ph idx="1"/>
          </p:nvPr>
        </p:nvSpPr>
        <p:spPr/>
        <p:txBody>
          <a:bodyPr/>
          <a:lstStyle/>
          <a:p>
            <a:pPr lvl="0" indent="0" marL="0">
              <a:spcBef>
                <a:spcPts val="3000"/>
              </a:spcBef>
              <a:buNone/>
            </a:pPr>
            <a:r>
              <a:rPr b="1"/>
              <a:t>6.1 ראשי ממשלה (13)</a:t>
            </a:r>
          </a:p>
          <a:p>
            <a:pPr lvl="0"/>
            <a:r>
              <a:rPr/>
              <a:t>כל רה”מ נבדק ב-17 מדדים</a:t>
            </a:r>
          </a:p>
          <a:p>
            <a:pPr lvl="0"/>
            <a:r>
              <a:rPr/>
              <a:t>טבלת מאסטר מלאה</a:t>
            </a:r>
          </a:p>
          <a:p>
            <a:pPr lvl="0"/>
            <a:r>
              <a:rPr/>
              <a:t>בן-גוריון: 9.5 → נתניהו 6: 2.0</a:t>
            </a:r>
          </a:p>
          <a:p>
            <a:pPr lvl="0" indent="0" marL="0">
              <a:spcBef>
                <a:spcPts val="3000"/>
              </a:spcBef>
              <a:buNone/>
            </a:pPr>
            <a:r>
              <a:rPr b="1"/>
              <a:t>6.2 ממשלות (37)</a:t>
            </a:r>
          </a:p>
          <a:p>
            <a:pPr lvl="0"/>
            <a:r>
              <a:rPr/>
              <a:t>כל ממשלה (1948-2026)</a:t>
            </a:r>
          </a:p>
          <a:p>
            <a:pPr lvl="0"/>
            <a:r>
              <a:rPr/>
              <a:t>D/U/R/F/PEP/DBR/NSV</a:t>
            </a:r>
          </a:p>
          <a:p>
            <a:pPr lvl="0"/>
            <a:r>
              <a:rPr/>
              <a:t>ממשלה זמנית בן-גוריון: 9.5</a:t>
            </a:r>
          </a:p>
          <a:p>
            <a:pPr lvl="0"/>
            <a:r>
              <a:rPr/>
              <a:t>ממשלה 37 נתניהו 6: 2.0</a:t>
            </a:r>
          </a:p>
          <a:p>
            <a:pPr lvl="0" indent="0" marL="0">
              <a:spcBef>
                <a:spcPts val="3000"/>
              </a:spcBef>
              <a:buNone/>
            </a:pPr>
            <a:r>
              <a:rPr b="1"/>
              <a:t>6.3 כנסת (25 כנסתים, 2,100+ ח”כים)</a:t>
            </a:r>
          </a:p>
          <a:p>
            <a:pPr lvl="0"/>
            <a:r>
              <a:rPr/>
              <a:t>כל כנסת × 7 מדדים</a:t>
            </a:r>
          </a:p>
          <a:p>
            <a:pPr lvl="0"/>
            <a:r>
              <a:rPr/>
              <a:t>כל ח”כ × 6 מדדי SR</a:t>
            </a:r>
          </a:p>
          <a:p>
            <a:pPr lvl="0"/>
            <a:r>
              <a:rPr/>
              <a:t>740 שרים (היסטורי)</a:t>
            </a:r>
          </a:p>
          <a:p>
            <a:pPr lvl="0"/>
            <a:r>
              <a:rPr/>
              <a:t>ציון כנסת 25: 3.5 (הגרועה)</a:t>
            </a:r>
          </a:p>
          <a:p>
            <a:pPr lvl="0" indent="0" marL="0">
              <a:spcBef>
                <a:spcPts val="3000"/>
              </a:spcBef>
              <a:buNone/>
            </a:pPr>
            <a:r>
              <a:rPr b="1"/>
              <a:t>6.4 1,250 מנהיגים</a:t>
            </a:r>
          </a:p>
          <a:p>
            <a:pPr lvl="0"/>
            <a:r>
              <a:rPr/>
              <a:t>68 שופטי עליון (ממוצע 8.7)</a:t>
            </a:r>
          </a:p>
          <a:p>
            <a:pPr lvl="0"/>
            <a:r>
              <a:rPr/>
              <a:t>22 רבנים ראשיים (ממוצע 7.9)</a:t>
            </a:r>
          </a:p>
          <a:p>
            <a:pPr lvl="0"/>
            <a:r>
              <a:rPr/>
              <a:t>15 ראשי שב”כ (ממוצע 8.4)</a:t>
            </a:r>
          </a:p>
          <a:p>
            <a:pPr lvl="0"/>
            <a:r>
              <a:rPr/>
              <a:t>13 ראשי מוסד (ממוצע 8.6)</a:t>
            </a:r>
          </a:p>
          <a:p>
            <a:pPr lvl="0"/>
            <a:r>
              <a:rPr/>
              <a:t>24 רמטכ”לים (ממוצע 7.9)</a:t>
            </a:r>
          </a:p>
          <a:p>
            <a:pPr lvl="0"/>
            <a:r>
              <a:rPr/>
              <a:t>24 מפכ”לים (ממוצע 7.3)</a:t>
            </a:r>
          </a:p>
          <a:p>
            <a:pPr lvl="0"/>
            <a:r>
              <a:rPr/>
              <a:t>11 נגידי בנק ישראל (ממוצע 8.7)</a:t>
            </a:r>
          </a:p>
          <a:p>
            <a:pPr lvl="0"/>
            <a:r>
              <a:rPr/>
              <a:t>11 נשיאי המדינה (ממוצע 8.0)</a:t>
            </a:r>
          </a:p>
          <a:p>
            <a:pPr lvl="0"/>
            <a:r>
              <a:rPr/>
              <a:t>15 יועמ”שים (ממוצע 9.0 — הגבוה!)</a:t>
            </a:r>
          </a:p>
          <a:p>
            <a:pPr lvl="0" indent="0" marL="0">
              <a:spcBef>
                <a:spcPts val="3000"/>
              </a:spcBef>
              <a:buNone/>
            </a:pPr>
            <a:r>
              <a:rPr b="1"/>
              <a:t>6.5 48 מגזרים (ישראל + פלסטין)</a:t>
            </a:r>
          </a:p>
          <a:p>
            <a:pPr lvl="0" indent="0" marL="0">
              <a:buNone/>
            </a:pPr>
            <a:r>
              <a:rPr b="1"/>
              <a:t>ישראל (35 תת-מגזרים)</a:t>
            </a:r>
            <a:r>
              <a:rPr/>
              <a:t>: - יהודים: 10 מגזרים - ערבים ישראלים: 4 - דור Z: 6 מגזרים</a:t>
            </a:r>
          </a:p>
          <a:p>
            <a:pPr lvl="0" indent="0" marL="0">
              <a:buNone/>
            </a:pPr>
            <a:r>
              <a:rPr b="1"/>
              <a:t>פלסטינים (13 מגזרים)</a:t>
            </a:r>
            <a:r>
              <a:rPr/>
              <a:t>: - גדה (5) - עזה (4) - מז’ ירושלים (1) - פליטים בחו”ל (4)</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7: המערכות השלטוניות</a:t>
            </a:r>
          </a:p>
        </p:txBody>
      </p:sp>
      <p:sp>
        <p:nvSpPr>
          <p:cNvPr id="4" name="Text Placeholder 3"/>
          <p:cNvSpPr>
            <a:spLocks noGrp="1"/>
          </p:cNvSpPr>
          <p:nvPr>
            <p:ph idx="2" sz="half" type="body"/>
          </p:nvPr>
        </p:nvSpPr>
        <p:spPr/>
        <p:txBody>
          <a:bodyPr/>
          <a:lstStyle/>
          <a:p>
            <a:pPr lvl="0" indent="0" marL="0">
              <a:spcBef>
                <a:spcPts val="3000"/>
              </a:spcBef>
              <a:buNone/>
            </a:pPr>
            <a:r>
              <a:rPr b="1"/>
              <a:t>7.1 15 מערכות ציבוריות</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מערכת</a:t>
                      </a:r>
                    </a:p>
                  </a:txBody>
                  <a:tcPr/>
                </a:tc>
                <a:tc>
                  <a:txBody>
                    <a:bodyPr/>
                    <a:lstStyle/>
                    <a:p>
                      <a:pPr lvl="0" indent="0" marL="0">
                        <a:buNone/>
                      </a:pPr>
                      <a:r>
                        <a:rPr/>
                        <a:t>F</a:t>
                      </a:r>
                    </a:p>
                  </a:txBody>
                  <a:tcPr/>
                </a:tc>
                <a:tc>
                  <a:txBody>
                    <a:bodyPr/>
                    <a:lstStyle/>
                    <a:p>
                      <a:pPr lvl="0" indent="0" marL="0">
                        <a:buNone/>
                      </a:pPr>
                      <a:r>
                        <a:rPr/>
                        <a:t>מצב</a:t>
                      </a:r>
                    </a:p>
                  </a:txBody>
                  <a:tcPr/>
                </a:tc>
              </a:tr>
              <a:tr h="0">
                <a:tc>
                  <a:txBody>
                    <a:bodyPr/>
                    <a:lstStyle/>
                    <a:p>
                      <a:pPr lvl="0" indent="0" marL="0">
                        <a:buNone/>
                      </a:pPr>
                      <a:r>
                        <a:rPr b="1"/>
                        <a:t>מו”פ/חדשנות</a:t>
                      </a:r>
                    </a:p>
                  </a:txBody>
                </a:tc>
                <a:tc>
                  <a:txBody>
                    <a:bodyPr/>
                    <a:lstStyle/>
                    <a:p>
                      <a:pPr lvl="0" indent="0" marL="0">
                        <a:buNone/>
                      </a:pPr>
                      <a:r>
                        <a:rPr b="1"/>
                        <a:t>25</a:t>
                      </a:r>
                    </a:p>
                  </a:txBody>
                </a:tc>
                <a:tc>
                  <a:txBody>
                    <a:bodyPr/>
                    <a:lstStyle/>
                    <a:p>
                      <a:pPr lvl="0" indent="0" marL="0">
                        <a:buNone/>
                      </a:pPr>
                      <a:r>
                        <a:rPr/>
                        <a:t>🥇 שיא</a:t>
                      </a:r>
                    </a:p>
                  </a:txBody>
                </a:tc>
              </a:tr>
              <a:tr h="0">
                <a:tc>
                  <a:txBody>
                    <a:bodyPr/>
                    <a:lstStyle/>
                    <a:p>
                      <a:pPr lvl="0" indent="0" marL="0">
                        <a:buNone/>
                      </a:pPr>
                      <a:r>
                        <a:rPr b="1"/>
                        <a:t>בי”ד עליון</a:t>
                      </a:r>
                    </a:p>
                  </a:txBody>
                </a:tc>
                <a:tc>
                  <a:txBody>
                    <a:bodyPr/>
                    <a:lstStyle/>
                    <a:p>
                      <a:pPr lvl="0" indent="0" marL="0">
                        <a:buNone/>
                      </a:pPr>
                      <a:r>
                        <a:rPr/>
                        <a:t>22</a:t>
                      </a:r>
                    </a:p>
                  </a:txBody>
                </a:tc>
                <a:tc>
                  <a:txBody>
                    <a:bodyPr/>
                    <a:lstStyle/>
                    <a:p>
                      <a:pPr lvl="0" indent="0" marL="0">
                        <a:buNone/>
                      </a:pPr>
                      <a:r>
                        <a:rPr/>
                        <a:t>חזק</a:t>
                      </a:r>
                    </a:p>
                  </a:txBody>
                </a:tc>
              </a:tr>
              <a:tr h="0">
                <a:tc>
                  <a:txBody>
                    <a:bodyPr/>
                    <a:lstStyle/>
                    <a:p>
                      <a:pPr lvl="0" indent="0" marL="0">
                        <a:buNone/>
                      </a:pPr>
                      <a:r>
                        <a:rPr b="1"/>
                        <a:t>מוסד</a:t>
                      </a:r>
                    </a:p>
                  </a:txBody>
                </a:tc>
                <a:tc>
                  <a:txBody>
                    <a:bodyPr/>
                    <a:lstStyle/>
                    <a:p>
                      <a:pPr lvl="0" indent="0" marL="0">
                        <a:buNone/>
                      </a:pPr>
                      <a:r>
                        <a:rPr/>
                        <a:t>18</a:t>
                      </a:r>
                    </a:p>
                  </a:txBody>
                </a:tc>
                <a:tc>
                  <a:txBody>
                    <a:bodyPr/>
                    <a:lstStyle/>
                    <a:p>
                      <a:pPr lvl="0" indent="0" marL="0">
                        <a:buNone/>
                      </a:pPr>
                      <a:r>
                        <a:rPr/>
                        <a:t>חזק</a:t>
                      </a:r>
                    </a:p>
                  </a:txBody>
                </a:tc>
              </a:tr>
              <a:tr h="0">
                <a:tc>
                  <a:txBody>
                    <a:bodyPr/>
                    <a:lstStyle/>
                    <a:p>
                      <a:pPr lvl="0" indent="0" marL="0">
                        <a:buNone/>
                      </a:pPr>
                      <a:r>
                        <a:rPr b="1"/>
                        <a:t>בנק ישראל</a:t>
                      </a:r>
                    </a:p>
                  </a:txBody>
                </a:tc>
                <a:tc>
                  <a:txBody>
                    <a:bodyPr/>
                    <a:lstStyle/>
                    <a:p>
                      <a:pPr lvl="0" indent="0" marL="0">
                        <a:buNone/>
                      </a:pPr>
                      <a:r>
                        <a:rPr/>
                        <a:t>20</a:t>
                      </a:r>
                    </a:p>
                  </a:txBody>
                </a:tc>
                <a:tc>
                  <a:txBody>
                    <a:bodyPr/>
                    <a:lstStyle/>
                    <a:p>
                      <a:pPr lvl="0" indent="0" marL="0">
                        <a:buNone/>
                      </a:pPr>
                      <a:r>
                        <a:rPr/>
                        <a:t>חזק</a:t>
                      </a:r>
                    </a:p>
                  </a:txBody>
                </a:tc>
              </a:tr>
              <a:tr h="0">
                <a:tc>
                  <a:txBody>
                    <a:bodyPr/>
                    <a:lstStyle/>
                    <a:p>
                      <a:pPr lvl="0" indent="0" marL="0">
                        <a:buNone/>
                      </a:pPr>
                      <a:r>
                        <a:rPr b="1"/>
                        <a:t>רשות ההגבלים</a:t>
                      </a:r>
                    </a:p>
                  </a:txBody>
                </a:tc>
                <a:tc>
                  <a:txBody>
                    <a:bodyPr/>
                    <a:lstStyle/>
                    <a:p>
                      <a:pPr lvl="0" indent="0" marL="0">
                        <a:buNone/>
                      </a:pPr>
                      <a:r>
                        <a:rPr/>
                        <a:t>18</a:t>
                      </a:r>
                    </a:p>
                  </a:txBody>
                </a:tc>
                <a:tc>
                  <a:txBody>
                    <a:bodyPr/>
                    <a:lstStyle/>
                    <a:p>
                      <a:pPr lvl="0" indent="0" marL="0">
                        <a:buNone/>
                      </a:pPr>
                      <a:r>
                        <a:rPr/>
                        <a:t>חזק</a:t>
                      </a:r>
                    </a:p>
                  </a:txBody>
                </a:tc>
              </a:tr>
              <a:tr h="0">
                <a:tc>
                  <a:txBody>
                    <a:bodyPr/>
                    <a:lstStyle/>
                    <a:p>
                      <a:pPr lvl="0" indent="0" marL="0">
                        <a:buNone/>
                      </a:pPr>
                      <a:r>
                        <a:rPr b="1"/>
                        <a:t>רשות ני”ע</a:t>
                      </a:r>
                    </a:p>
                  </a:txBody>
                </a:tc>
                <a:tc>
                  <a:txBody>
                    <a:bodyPr/>
                    <a:lstStyle/>
                    <a:p>
                      <a:pPr lvl="0" indent="0" marL="0">
                        <a:buNone/>
                      </a:pPr>
                      <a:r>
                        <a:rPr/>
                        <a:t>15</a:t>
                      </a:r>
                    </a:p>
                  </a:txBody>
                </a:tc>
                <a:tc>
                  <a:txBody>
                    <a:bodyPr/>
                    <a:lstStyle/>
                    <a:p>
                      <a:pPr lvl="0" indent="0" marL="0">
                        <a:buNone/>
                      </a:pPr>
                      <a:r>
                        <a:rPr/>
                        <a:t>סבירה</a:t>
                      </a:r>
                    </a:p>
                  </a:txBody>
                </a:tc>
              </a:tr>
              <a:tr h="0">
                <a:tc>
                  <a:txBody>
                    <a:bodyPr/>
                    <a:lstStyle/>
                    <a:p>
                      <a:pPr lvl="0" indent="0" marL="0">
                        <a:buNone/>
                      </a:pPr>
                      <a:r>
                        <a:rPr b="1"/>
                        <a:t>שב”כ</a:t>
                      </a:r>
                    </a:p>
                  </a:txBody>
                </a:tc>
                <a:tc>
                  <a:txBody>
                    <a:bodyPr/>
                    <a:lstStyle/>
                    <a:p>
                      <a:pPr lvl="0" indent="0" marL="0">
                        <a:buNone/>
                      </a:pPr>
                      <a:r>
                        <a:rPr/>
                        <a:t>16</a:t>
                      </a:r>
                    </a:p>
                  </a:txBody>
                </a:tc>
                <a:tc>
                  <a:txBody>
                    <a:bodyPr/>
                    <a:lstStyle/>
                    <a:p>
                      <a:pPr lvl="0" indent="0" marL="0">
                        <a:buNone/>
                      </a:pPr>
                      <a:r>
                        <a:rPr/>
                        <a:t>סבירה</a:t>
                      </a:r>
                    </a:p>
                  </a:txBody>
                </a:tc>
              </a:tr>
              <a:tr h="0">
                <a:tc>
                  <a:txBody>
                    <a:bodyPr/>
                    <a:lstStyle/>
                    <a:p>
                      <a:pPr lvl="0" indent="0" marL="0">
                        <a:buNone/>
                      </a:pPr>
                      <a:r>
                        <a:rPr b="1"/>
                        <a:t>צה”ל</a:t>
                      </a:r>
                    </a:p>
                  </a:txBody>
                </a:tc>
                <a:tc>
                  <a:txBody>
                    <a:bodyPr/>
                    <a:lstStyle/>
                    <a:p>
                      <a:pPr lvl="0" indent="0" marL="0">
                        <a:buNone/>
                      </a:pPr>
                      <a:r>
                        <a:rPr/>
                        <a:t>12</a:t>
                      </a:r>
                    </a:p>
                  </a:txBody>
                </a:tc>
                <a:tc>
                  <a:txBody>
                    <a:bodyPr/>
                    <a:lstStyle/>
                    <a:p>
                      <a:pPr lvl="0" indent="0" marL="0">
                        <a:buNone/>
                      </a:pPr>
                      <a:r>
                        <a:rPr/>
                        <a:t>בירידה</a:t>
                      </a:r>
                    </a:p>
                  </a:txBody>
                </a:tc>
              </a:tr>
              <a:tr h="0">
                <a:tc>
                  <a:txBody>
                    <a:bodyPr/>
                    <a:lstStyle/>
                    <a:p>
                      <a:pPr lvl="0" indent="0" marL="0">
                        <a:buNone/>
                      </a:pPr>
                      <a:r>
                        <a:rPr b="1"/>
                        <a:t>מערכת הבריאות</a:t>
                      </a:r>
                    </a:p>
                  </a:txBody>
                </a:tc>
                <a:tc>
                  <a:txBody>
                    <a:bodyPr/>
                    <a:lstStyle/>
                    <a:p>
                      <a:pPr lvl="0" indent="0" marL="0">
                        <a:buNone/>
                      </a:pPr>
                      <a:r>
                        <a:rPr/>
                        <a:t>15</a:t>
                      </a:r>
                    </a:p>
                  </a:txBody>
                </a:tc>
                <a:tc>
                  <a:txBody>
                    <a:bodyPr/>
                    <a:lstStyle/>
                    <a:p>
                      <a:pPr lvl="0" indent="0" marL="0">
                        <a:buNone/>
                      </a:pPr>
                      <a:r>
                        <a:rPr/>
                        <a:t>סבירה</a:t>
                      </a:r>
                    </a:p>
                  </a:txBody>
                </a:tc>
              </a:tr>
              <a:tr h="0">
                <a:tc>
                  <a:txBody>
                    <a:bodyPr/>
                    <a:lstStyle/>
                    <a:p>
                      <a:pPr lvl="0" indent="0" marL="0">
                        <a:buNone/>
                      </a:pPr>
                      <a:r>
                        <a:rPr b="1"/>
                        <a:t>מערכת החינוך</a:t>
                      </a:r>
                    </a:p>
                  </a:txBody>
                </a:tc>
                <a:tc>
                  <a:txBody>
                    <a:bodyPr/>
                    <a:lstStyle/>
                    <a:p>
                      <a:pPr lvl="0" indent="0" marL="0">
                        <a:buNone/>
                      </a:pPr>
                      <a:r>
                        <a:rPr/>
                        <a:t>10</a:t>
                      </a:r>
                    </a:p>
                  </a:txBody>
                </a:tc>
                <a:tc>
                  <a:txBody>
                    <a:bodyPr/>
                    <a:lstStyle/>
                    <a:p>
                      <a:pPr lvl="0" indent="0" marL="0">
                        <a:buNone/>
                      </a:pPr>
                      <a:r>
                        <a:rPr/>
                        <a:t>🚨 בקריסה</a:t>
                      </a:r>
                    </a:p>
                  </a:txBody>
                </a:tc>
              </a:tr>
              <a:tr h="0">
                <a:tc>
                  <a:txBody>
                    <a:bodyPr/>
                    <a:lstStyle/>
                    <a:p>
                      <a:pPr lvl="0" indent="0" marL="0">
                        <a:buNone/>
                      </a:pPr>
                      <a:r>
                        <a:rPr b="1"/>
                        <a:t>מערכת הרווחה</a:t>
                      </a:r>
                    </a:p>
                  </a:txBody>
                </a:tc>
                <a:tc>
                  <a:txBody>
                    <a:bodyPr/>
                    <a:lstStyle/>
                    <a:p>
                      <a:pPr lvl="0" indent="0" marL="0">
                        <a:buNone/>
                      </a:pPr>
                      <a:r>
                        <a:rPr/>
                        <a:t>10</a:t>
                      </a:r>
                    </a:p>
                  </a:txBody>
                </a:tc>
                <a:tc>
                  <a:txBody>
                    <a:bodyPr/>
                    <a:lstStyle/>
                    <a:p>
                      <a:pPr lvl="0" indent="0" marL="0">
                        <a:buNone/>
                      </a:pPr>
                      <a:r>
                        <a:rPr/>
                        <a:t>🚨 בקריסה</a:t>
                      </a:r>
                    </a:p>
                  </a:txBody>
                </a:tc>
              </a:tr>
              <a:tr h="0">
                <a:tc>
                  <a:txBody>
                    <a:bodyPr/>
                    <a:lstStyle/>
                    <a:p>
                      <a:pPr lvl="0" indent="0" marL="0">
                        <a:buNone/>
                      </a:pPr>
                      <a:r>
                        <a:rPr b="1"/>
                        <a:t>שב”ס</a:t>
                      </a:r>
                    </a:p>
                  </a:txBody>
                </a:tc>
                <a:tc>
                  <a:txBody>
                    <a:bodyPr/>
                    <a:lstStyle/>
                    <a:p>
                      <a:pPr lvl="0" indent="0" marL="0">
                        <a:buNone/>
                      </a:pPr>
                      <a:r>
                        <a:rPr/>
                        <a:t>9</a:t>
                      </a:r>
                    </a:p>
                  </a:txBody>
                </a:tc>
                <a:tc>
                  <a:txBody>
                    <a:bodyPr/>
                    <a:lstStyle/>
                    <a:p>
                      <a:pPr lvl="0" indent="0" marL="0">
                        <a:buNone/>
                      </a:pPr>
                      <a:r>
                        <a:rPr/>
                        <a:t>🚨 בקריסה</a:t>
                      </a:r>
                    </a:p>
                  </a:txBody>
                </a:tc>
              </a:tr>
              <a:tr h="0">
                <a:tc>
                  <a:txBody>
                    <a:bodyPr/>
                    <a:lstStyle/>
                    <a:p>
                      <a:pPr lvl="0" indent="0" marL="0">
                        <a:buNone/>
                      </a:pPr>
                      <a:r>
                        <a:rPr b="1"/>
                        <a:t>רבנות</a:t>
                      </a:r>
                    </a:p>
                  </a:txBody>
                </a:tc>
                <a:tc>
                  <a:txBody>
                    <a:bodyPr/>
                    <a:lstStyle/>
                    <a:p>
                      <a:pPr lvl="0" indent="0" marL="0">
                        <a:buNone/>
                      </a:pPr>
                      <a:r>
                        <a:rPr/>
                        <a:t>8</a:t>
                      </a:r>
                    </a:p>
                  </a:txBody>
                </a:tc>
                <a:tc>
                  <a:txBody>
                    <a:bodyPr/>
                    <a:lstStyle/>
                    <a:p>
                      <a:pPr lvl="0" indent="0" marL="0">
                        <a:buNone/>
                      </a:pPr>
                      <a:r>
                        <a:rPr/>
                        <a:t>🚨 בקריסה</a:t>
                      </a:r>
                    </a:p>
                  </a:txBody>
                </a:tc>
              </a:tr>
              <a:tr h="0">
                <a:tc>
                  <a:txBody>
                    <a:bodyPr/>
                    <a:lstStyle/>
                    <a:p>
                      <a:pPr lvl="0" indent="0" marL="0">
                        <a:buNone/>
                      </a:pPr>
                      <a:r>
                        <a:rPr b="1"/>
                        <a:t>פרקליטות</a:t>
                      </a:r>
                    </a:p>
                  </a:txBody>
                </a:tc>
                <a:tc>
                  <a:txBody>
                    <a:bodyPr/>
                    <a:lstStyle/>
                    <a:p>
                      <a:pPr lvl="0" indent="0" marL="0">
                        <a:buNone/>
                      </a:pPr>
                      <a:r>
                        <a:rPr/>
                        <a:t>8</a:t>
                      </a:r>
                    </a:p>
                  </a:txBody>
                </a:tc>
                <a:tc>
                  <a:txBody>
                    <a:bodyPr/>
                    <a:lstStyle/>
                    <a:p>
                      <a:pPr lvl="0" indent="0" marL="0">
                        <a:buNone/>
                      </a:pPr>
                      <a:r>
                        <a:rPr/>
                        <a:t>🚨 בקריסה</a:t>
                      </a:r>
                    </a:p>
                  </a:txBody>
                </a:tc>
              </a:tr>
              <a:tr h="0">
                <a:tc>
                  <a:txBody>
                    <a:bodyPr/>
                    <a:lstStyle/>
                    <a:p>
                      <a:pPr lvl="0" indent="0" marL="0">
                        <a:buNone/>
                      </a:pPr>
                      <a:r>
                        <a:rPr b="1"/>
                        <a:t>משטרה</a:t>
                      </a:r>
                    </a:p>
                  </a:txBody>
                </a:tc>
                <a:tc>
                  <a:txBody>
                    <a:bodyPr/>
                    <a:lstStyle/>
                    <a:p>
                      <a:pPr lvl="0" indent="0" marL="0">
                        <a:buNone/>
                      </a:pPr>
                      <a:r>
                        <a:rPr/>
                        <a:t>5</a:t>
                      </a:r>
                    </a:p>
                  </a:txBody>
                </a:tc>
                <a:tc>
                  <a:txBody>
                    <a:bodyPr/>
                    <a:lstStyle/>
                    <a:p>
                      <a:pPr lvl="0" indent="0" marL="0">
                        <a:buNone/>
                      </a:pPr>
                      <a:r>
                        <a:rPr/>
                        <a:t>🚨🚨 קריסה עמוקה</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ממוצע</a:t>
            </a:r>
            <a:r>
              <a:rPr/>
              <a:t>: F=13 — “סביר”</a:t>
            </a:r>
          </a:p>
          <a:p>
            <a:pPr lvl="0" indent="0" marL="0">
              <a:spcBef>
                <a:spcPts val="3000"/>
              </a:spcBef>
              <a:buNone/>
            </a:pPr>
            <a:r>
              <a:rPr b="1"/>
              <a:t>7.2 65 חברות ממשלתיות</a:t>
            </a:r>
          </a:p>
          <a:p>
            <a:pPr lvl="0" indent="0" marL="0">
              <a:buNone/>
            </a:pPr>
            <a:r>
              <a:rPr b="1"/>
              <a:t>הטובות</a:t>
            </a:r>
            <a:r>
              <a:rPr/>
              <a:t>: - רפאל (F=18) - נתיבי הגז (F=18) - קופ”ח כללית (F=16) - מקורות (F=15)</a:t>
            </a:r>
          </a:p>
          <a:p>
            <a:pPr lvl="0" indent="0" marL="0">
              <a:buNone/>
            </a:pPr>
            <a:r>
              <a:rPr b="1"/>
              <a:t>הגרועות</a:t>
            </a:r>
            <a:r>
              <a:rPr/>
              <a:t>: - רשות הדואר (F=6) - עמידר (F=5) - רכבת ישראל (F=8)</a:t>
            </a:r>
          </a:p>
          <a:p>
            <a:pPr lvl="0" indent="0" marL="0">
              <a:spcBef>
                <a:spcPts val="3000"/>
              </a:spcBef>
              <a:buNone/>
            </a:pPr>
            <a:r>
              <a:rPr b="1"/>
              <a:t>7.3 257 רשויות מקומיות</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סוג</a:t>
                      </a:r>
                    </a:p>
                  </a:txBody>
                  <a:tcPr/>
                </a:tc>
                <a:tc>
                  <a:txBody>
                    <a:bodyPr/>
                    <a:lstStyle/>
                    <a:p>
                      <a:pPr lvl="0" indent="0" marL="0">
                        <a:buNone/>
                      </a:pPr>
                      <a:r>
                        <a:rPr/>
                        <a:t>F</a:t>
                      </a:r>
                    </a:p>
                  </a:txBody>
                  <a:tcPr/>
                </a:tc>
                <a:tc>
                  <a:txBody>
                    <a:bodyPr/>
                    <a:lstStyle/>
                    <a:p>
                      <a:pPr lvl="0" indent="0" marL="0">
                        <a:buNone/>
                      </a:pPr>
                      <a:r>
                        <a:rPr/>
                        <a:t>₪/תושב</a:t>
                      </a:r>
                    </a:p>
                  </a:txBody>
                  <a:tcPr/>
                </a:tc>
              </a:tr>
              <a:tr h="0">
                <a:tc>
                  <a:txBody>
                    <a:bodyPr/>
                    <a:lstStyle/>
                    <a:p>
                      <a:pPr lvl="0" indent="0" marL="0">
                        <a:buNone/>
                      </a:pPr>
                      <a:r>
                        <a:rPr/>
                        <a:t>ערי חרדים</a:t>
                      </a:r>
                    </a:p>
                  </a:txBody>
                </a:tc>
                <a:tc>
                  <a:txBody>
                    <a:bodyPr/>
                    <a:lstStyle/>
                    <a:p>
                      <a:pPr lvl="0" indent="0" marL="0">
                        <a:buNone/>
                      </a:pPr>
                      <a:r>
                        <a:rPr/>
                        <a:t>16</a:t>
                      </a:r>
                    </a:p>
                  </a:txBody>
                </a:tc>
                <a:tc>
                  <a:txBody>
                    <a:bodyPr/>
                    <a:lstStyle/>
                    <a:p>
                      <a:pPr lvl="0" indent="0" marL="0">
                        <a:buNone/>
                      </a:pPr>
                      <a:r>
                        <a:rPr/>
                        <a:t>12,500</a:t>
                      </a:r>
                    </a:p>
                  </a:txBody>
                </a:tc>
              </a:tr>
              <a:tr h="0">
                <a:tc>
                  <a:txBody>
                    <a:bodyPr/>
                    <a:lstStyle/>
                    <a:p>
                      <a:pPr lvl="0" indent="0" marL="0">
                        <a:buNone/>
                      </a:pPr>
                      <a:r>
                        <a:rPr/>
                        <a:t>ערי שרון</a:t>
                      </a:r>
                    </a:p>
                  </a:txBody>
                </a:tc>
                <a:tc>
                  <a:txBody>
                    <a:bodyPr/>
                    <a:lstStyle/>
                    <a:p>
                      <a:pPr lvl="0" indent="0" marL="0">
                        <a:buNone/>
                      </a:pPr>
                      <a:r>
                        <a:rPr/>
                        <a:t>16</a:t>
                      </a:r>
                    </a:p>
                  </a:txBody>
                </a:tc>
                <a:tc>
                  <a:txBody>
                    <a:bodyPr/>
                    <a:lstStyle/>
                    <a:p>
                      <a:pPr lvl="0" indent="0" marL="0">
                        <a:buNone/>
                      </a:pPr>
                      <a:r>
                        <a:rPr/>
                        <a:t>8,000</a:t>
                      </a:r>
                    </a:p>
                  </a:txBody>
                </a:tc>
              </a:tr>
              <a:tr h="0">
                <a:tc>
                  <a:txBody>
                    <a:bodyPr/>
                    <a:lstStyle/>
                    <a:p>
                      <a:pPr lvl="0" indent="0" marL="0">
                        <a:buNone/>
                      </a:pPr>
                      <a:r>
                        <a:rPr/>
                        <a:t>ערי מרכז</a:t>
                      </a:r>
                    </a:p>
                  </a:txBody>
                </a:tc>
                <a:tc>
                  <a:txBody>
                    <a:bodyPr/>
                    <a:lstStyle/>
                    <a:p>
                      <a:pPr lvl="0" indent="0" marL="0">
                        <a:buNone/>
                      </a:pPr>
                      <a:r>
                        <a:rPr/>
                        <a:t>13</a:t>
                      </a:r>
                    </a:p>
                  </a:txBody>
                </a:tc>
                <a:tc>
                  <a:txBody>
                    <a:bodyPr/>
                    <a:lstStyle/>
                    <a:p>
                      <a:pPr lvl="0" indent="0" marL="0">
                        <a:buNone/>
                      </a:pPr>
                      <a:r>
                        <a:rPr/>
                        <a:t>8,500</a:t>
                      </a:r>
                    </a:p>
                  </a:txBody>
                </a:tc>
              </a:tr>
              <a:tr h="0">
                <a:tc>
                  <a:txBody>
                    <a:bodyPr/>
                    <a:lstStyle/>
                    <a:p>
                      <a:pPr lvl="0" indent="0" marL="0">
                        <a:buNone/>
                      </a:pPr>
                      <a:r>
                        <a:rPr/>
                        <a:t>🚨 ערים ערביות</a:t>
                      </a:r>
                    </a:p>
                  </a:txBody>
                </a:tc>
                <a:tc>
                  <a:txBody>
                    <a:bodyPr/>
                    <a:lstStyle/>
                    <a:p>
                      <a:pPr lvl="0" indent="0" marL="0">
                        <a:buNone/>
                      </a:pPr>
                      <a:r>
                        <a:rPr/>
                        <a:t>4</a:t>
                      </a:r>
                    </a:p>
                  </a:txBody>
                </a:tc>
                <a:tc>
                  <a:txBody>
                    <a:bodyPr/>
                    <a:lstStyle/>
                    <a:p>
                      <a:pPr lvl="0" indent="0" marL="0">
                        <a:buNone/>
                      </a:pPr>
                      <a:r>
                        <a:rPr/>
                        <a:t>4,500</a:t>
                      </a:r>
                    </a:p>
                  </a:txBody>
                </a:tc>
              </a:tr>
              <a:tr h="0">
                <a:tc>
                  <a:txBody>
                    <a:bodyPr/>
                    <a:lstStyle/>
                    <a:p>
                      <a:pPr lvl="0" indent="0" marL="0">
                        <a:buNone/>
                      </a:pPr>
                      <a:r>
                        <a:rPr/>
                        <a:t>🚨🚨 כפרים בדואים</a:t>
                      </a:r>
                    </a:p>
                  </a:txBody>
                </a:tc>
                <a:tc>
                  <a:txBody>
                    <a:bodyPr/>
                    <a:lstStyle/>
                    <a:p>
                      <a:pPr lvl="0" indent="0" marL="0">
                        <a:buNone/>
                      </a:pPr>
                      <a:r>
                        <a:rPr/>
                        <a:t>1</a:t>
                      </a:r>
                    </a:p>
                  </a:txBody>
                </a:tc>
                <a:tc>
                  <a:txBody>
                    <a:bodyPr/>
                    <a:lstStyle/>
                    <a:p>
                      <a:pPr lvl="0" indent="0" marL="0">
                        <a:buNone/>
                      </a:pPr>
                      <a:r>
                        <a:rPr/>
                        <a:t>3,000</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הפרש פי 4</a:t>
            </a:r>
            <a:r>
              <a:rPr/>
              <a:t> בהקצאת תקציב.</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8: בחירות 2027 — דירוג הרשימות</a:t>
            </a:r>
          </a:p>
        </p:txBody>
      </p:sp>
      <p:sp>
        <p:nvSpPr>
          <p:cNvPr id="4" name="Text Placeholder 3"/>
          <p:cNvSpPr>
            <a:spLocks noGrp="1"/>
          </p:cNvSpPr>
          <p:nvPr>
            <p:ph idx="2" sz="half" type="body"/>
          </p:nvPr>
        </p:nvSpPr>
        <p:spPr/>
        <p:txBody>
          <a:bodyPr/>
          <a:lstStyle/>
          <a:p>
            <a:pPr lvl="0" indent="0" marL="0">
              <a:spcBef>
                <a:spcPts val="3000"/>
              </a:spcBef>
              <a:buNone/>
            </a:pPr>
            <a:r>
              <a:rPr b="1"/>
              <a:t>8.1 TOP 15 הח”כים (SR 7+)</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דירוג</a:t>
                      </a:r>
                    </a:p>
                  </a:txBody>
                  <a:tcPr/>
                </a:tc>
                <a:tc>
                  <a:txBody>
                    <a:bodyPr/>
                    <a:lstStyle/>
                    <a:p>
                      <a:pPr lvl="0" indent="0" marL="0">
                        <a:buNone/>
                      </a:pPr>
                      <a:r>
                        <a:rPr/>
                        <a:t>ח”כ</a:t>
                      </a:r>
                    </a:p>
                  </a:txBody>
                  <a:tcPr/>
                </a:tc>
                <a:tc>
                  <a:txBody>
                    <a:bodyPr/>
                    <a:lstStyle/>
                    <a:p>
                      <a:pPr lvl="0" indent="0" marL="0">
                        <a:buNone/>
                      </a:pPr>
                      <a:r>
                        <a:rPr/>
                        <a:t>רשימה</a:t>
                      </a:r>
                    </a:p>
                  </a:txBody>
                  <a:tcPr/>
                </a:tc>
                <a:tc>
                  <a:txBody>
                    <a:bodyPr/>
                    <a:lstStyle/>
                    <a:p>
                      <a:pPr lvl="0" indent="0" marL="0">
                        <a:buNone/>
                      </a:pPr>
                      <a:r>
                        <a:rPr/>
                        <a:t>SR</a:t>
                      </a:r>
                    </a:p>
                  </a:txBody>
                  <a:tcPr/>
                </a:tc>
              </a:tr>
              <a:tr h="0">
                <a:tc>
                  <a:txBody>
                    <a:bodyPr/>
                    <a:lstStyle/>
                    <a:p>
                      <a:pPr lvl="0" indent="0" marL="0">
                        <a:buNone/>
                      </a:pPr>
                      <a:r>
                        <a:rPr/>
                        <a:t>🥇</a:t>
                      </a:r>
                    </a:p>
                  </a:txBody>
                </a:tc>
                <a:tc>
                  <a:txBody>
                    <a:bodyPr/>
                    <a:lstStyle/>
                    <a:p>
                      <a:pPr lvl="0" indent="0" marL="0">
                        <a:buNone/>
                      </a:pPr>
                      <a:r>
                        <a:rPr b="1"/>
                        <a:t>גדי אייזנקוט</a:t>
                      </a:r>
                    </a:p>
                  </a:txBody>
                </a:tc>
                <a:tc>
                  <a:txBody>
                    <a:bodyPr/>
                    <a:lstStyle/>
                    <a:p>
                      <a:pPr lvl="0" indent="0" marL="0">
                        <a:buNone/>
                      </a:pPr>
                      <a:r>
                        <a:rPr/>
                        <a:t>המחנה הממלכתי</a:t>
                      </a:r>
                    </a:p>
                  </a:txBody>
                </a:tc>
                <a:tc>
                  <a:txBody>
                    <a:bodyPr/>
                    <a:lstStyle/>
                    <a:p>
                      <a:pPr lvl="0" indent="0" marL="0">
                        <a:buNone/>
                      </a:pPr>
                      <a:r>
                        <a:rPr b="1"/>
                        <a:t>8.7</a:t>
                      </a:r>
                    </a:p>
                  </a:txBody>
                </a:tc>
              </a:tr>
              <a:tr h="0">
                <a:tc>
                  <a:txBody>
                    <a:bodyPr/>
                    <a:lstStyle/>
                    <a:p>
                      <a:pPr lvl="0" indent="0" marL="0">
                        <a:buNone/>
                      </a:pPr>
                      <a:r>
                        <a:rPr/>
                        <a:t>🥈</a:t>
                      </a:r>
                    </a:p>
                  </a:txBody>
                </a:tc>
                <a:tc>
                  <a:txBody>
                    <a:bodyPr/>
                    <a:lstStyle/>
                    <a:p>
                      <a:pPr lvl="0" indent="0" marL="0">
                        <a:buNone/>
                      </a:pPr>
                      <a:r>
                        <a:rPr b="1"/>
                        <a:t>קרנית פלוג</a:t>
                      </a:r>
                    </a:p>
                  </a:txBody>
                </a:tc>
                <a:tc>
                  <a:txBody>
                    <a:bodyPr/>
                    <a:lstStyle/>
                    <a:p>
                      <a:pPr lvl="0" indent="0" marL="0">
                        <a:buNone/>
                      </a:pPr>
                      <a:r>
                        <a:rPr/>
                        <a:t>חדשה</a:t>
                      </a:r>
                    </a:p>
                  </a:txBody>
                </a:tc>
                <a:tc>
                  <a:txBody>
                    <a:bodyPr/>
                    <a:lstStyle/>
                    <a:p>
                      <a:pPr lvl="0" indent="0" marL="0">
                        <a:buNone/>
                      </a:pPr>
                      <a:r>
                        <a:rPr/>
                        <a:t>8.5</a:t>
                      </a:r>
                    </a:p>
                  </a:txBody>
                </a:tc>
              </a:tr>
              <a:tr h="0">
                <a:tc>
                  <a:txBody>
                    <a:bodyPr/>
                    <a:lstStyle/>
                    <a:p>
                      <a:pPr lvl="0" indent="0" marL="0">
                        <a:buNone/>
                      </a:pPr>
                      <a:r>
                        <a:rPr/>
                        <a:t>🥈</a:t>
                      </a:r>
                    </a:p>
                  </a:txBody>
                </a:tc>
                <a:tc>
                  <a:txBody>
                    <a:bodyPr/>
                    <a:lstStyle/>
                    <a:p>
                      <a:pPr lvl="0" indent="0" marL="0">
                        <a:buNone/>
                      </a:pPr>
                      <a:r>
                        <a:rPr b="1"/>
                        <a:t>רונן בר</a:t>
                      </a:r>
                    </a:p>
                  </a:txBody>
                </a:tc>
                <a:tc>
                  <a:txBody>
                    <a:bodyPr/>
                    <a:lstStyle/>
                    <a:p>
                      <a:pPr lvl="0" indent="0" marL="0">
                        <a:buNone/>
                      </a:pPr>
                      <a:r>
                        <a:rPr/>
                        <a:t>חדשה</a:t>
                      </a:r>
                    </a:p>
                  </a:txBody>
                </a:tc>
                <a:tc>
                  <a:txBody>
                    <a:bodyPr/>
                    <a:lstStyle/>
                    <a:p>
                      <a:pPr lvl="0" indent="0" marL="0">
                        <a:buNone/>
                      </a:pPr>
                      <a:r>
                        <a:rPr/>
                        <a:t>8.5</a:t>
                      </a:r>
                    </a:p>
                  </a:txBody>
                </a:tc>
              </a:tr>
              <a:tr h="0">
                <a:tc>
                  <a:txBody>
                    <a:bodyPr/>
                    <a:lstStyle/>
                    <a:p>
                      <a:pPr lvl="0" indent="0" marL="0">
                        <a:buNone/>
                      </a:pPr>
                      <a:r>
                        <a:rPr/>
                        <a:t>🥈</a:t>
                      </a:r>
                    </a:p>
                  </a:txBody>
                </a:tc>
                <a:tc>
                  <a:txBody>
                    <a:bodyPr/>
                    <a:lstStyle/>
                    <a:p>
                      <a:pPr lvl="0" indent="0" marL="0">
                        <a:buNone/>
                      </a:pPr>
                      <a:r>
                        <a:rPr b="1"/>
                        <a:t>פרופ’ סטרנגר</a:t>
                      </a:r>
                    </a:p>
                  </a:txBody>
                </a:tc>
                <a:tc>
                  <a:txBody>
                    <a:bodyPr/>
                    <a:lstStyle/>
                    <a:p>
                      <a:pPr lvl="0" indent="0" marL="0">
                        <a:buNone/>
                      </a:pPr>
                      <a:r>
                        <a:rPr/>
                        <a:t>חדשה</a:t>
                      </a:r>
                    </a:p>
                  </a:txBody>
                </a:tc>
                <a:tc>
                  <a:txBody>
                    <a:bodyPr/>
                    <a:lstStyle/>
                    <a:p>
                      <a:pPr lvl="0" indent="0" marL="0">
                        <a:buNone/>
                      </a:pPr>
                      <a:r>
                        <a:rPr/>
                        <a:t>8.5</a:t>
                      </a:r>
                    </a:p>
                  </a:txBody>
                </a:tc>
              </a:tr>
              <a:tr h="0">
                <a:tc>
                  <a:txBody>
                    <a:bodyPr/>
                    <a:lstStyle/>
                    <a:p>
                      <a:pPr lvl="0" indent="0" marL="0">
                        <a:buNone/>
                      </a:pPr>
                      <a:r>
                        <a:rPr/>
                        <a:t>🥉</a:t>
                      </a:r>
                    </a:p>
                  </a:txBody>
                </a:tc>
                <a:tc>
                  <a:txBody>
                    <a:bodyPr/>
                    <a:lstStyle/>
                    <a:p>
                      <a:pPr lvl="0" indent="0" marL="0">
                        <a:buNone/>
                      </a:pPr>
                      <a:r>
                        <a:rPr b="1"/>
                        <a:t>יאיר גולן</a:t>
                      </a:r>
                    </a:p>
                  </a:txBody>
                </a:tc>
                <a:tc>
                  <a:txBody>
                    <a:bodyPr/>
                    <a:lstStyle/>
                    <a:p>
                      <a:pPr lvl="0" indent="0" marL="0">
                        <a:buNone/>
                      </a:pPr>
                      <a:r>
                        <a:rPr/>
                        <a:t>הדמוקרטים</a:t>
                      </a:r>
                    </a:p>
                  </a:txBody>
                </a:tc>
                <a:tc>
                  <a:txBody>
                    <a:bodyPr/>
                    <a:lstStyle/>
                    <a:p>
                      <a:pPr lvl="0" indent="0" marL="0">
                        <a:buNone/>
                      </a:pPr>
                      <a:r>
                        <a:rPr/>
                        <a:t>8.3</a:t>
                      </a:r>
                    </a:p>
                  </a:txBody>
                </a:tc>
              </a:tr>
              <a:tr h="0">
                <a:tc>
                  <a:txBody>
                    <a:bodyPr/>
                    <a:lstStyle/>
                    <a:p>
                      <a:pPr lvl="0" indent="0" marL="0">
                        <a:buNone/>
                      </a:pPr>
                      <a:r>
                        <a:rPr/>
                        <a:t>6</a:t>
                      </a:r>
                    </a:p>
                  </a:txBody>
                </a:tc>
                <a:tc>
                  <a:txBody>
                    <a:bodyPr/>
                    <a:lstStyle/>
                    <a:p>
                      <a:pPr lvl="0" indent="0" marL="0">
                        <a:buNone/>
                      </a:pPr>
                      <a:r>
                        <a:rPr/>
                        <a:t>אהרון חליוה</a:t>
                      </a:r>
                    </a:p>
                  </a:txBody>
                </a:tc>
                <a:tc>
                  <a:txBody>
                    <a:bodyPr/>
                    <a:lstStyle/>
                    <a:p>
                      <a:pPr lvl="0" indent="0" marL="0">
                        <a:buNone/>
                      </a:pPr>
                      <a:r>
                        <a:rPr/>
                        <a:t>חדשה</a:t>
                      </a:r>
                    </a:p>
                  </a:txBody>
                </a:tc>
                <a:tc>
                  <a:txBody>
                    <a:bodyPr/>
                    <a:lstStyle/>
                    <a:p>
                      <a:pPr lvl="0" indent="0" marL="0">
                        <a:buNone/>
                      </a:pPr>
                      <a:r>
                        <a:rPr/>
                        <a:t>8.2</a:t>
                      </a:r>
                    </a:p>
                  </a:txBody>
                </a:tc>
              </a:tr>
              <a:tr h="0">
                <a:tc>
                  <a:txBody>
                    <a:bodyPr/>
                    <a:lstStyle/>
                    <a:p>
                      <a:pPr lvl="0" indent="0" marL="0">
                        <a:buNone/>
                      </a:pPr>
                      <a:r>
                        <a:rPr/>
                        <a:t>7</a:t>
                      </a:r>
                    </a:p>
                  </a:txBody>
                </a:tc>
                <a:tc>
                  <a:txBody>
                    <a:bodyPr/>
                    <a:lstStyle/>
                    <a:p>
                      <a:pPr lvl="0" indent="0" marL="0">
                        <a:buNone/>
                      </a:pPr>
                      <a:r>
                        <a:rPr/>
                        <a:t>אביב כוכבי</a:t>
                      </a:r>
                    </a:p>
                  </a:txBody>
                </a:tc>
                <a:tc>
                  <a:txBody>
                    <a:bodyPr/>
                    <a:lstStyle/>
                    <a:p>
                      <a:pPr lvl="0" indent="0" marL="0">
                        <a:buNone/>
                      </a:pPr>
                      <a:r>
                        <a:rPr/>
                        <a:t>חדשה</a:t>
                      </a:r>
                    </a:p>
                  </a:txBody>
                </a:tc>
                <a:tc>
                  <a:txBody>
                    <a:bodyPr/>
                    <a:lstStyle/>
                    <a:p>
                      <a:pPr lvl="0" indent="0" marL="0">
                        <a:buNone/>
                      </a:pPr>
                      <a:r>
                        <a:rPr/>
                        <a:t>8.0</a:t>
                      </a:r>
                    </a:p>
                  </a:txBody>
                </a:tc>
              </a:tr>
              <a:tr h="0">
                <a:tc>
                  <a:txBody>
                    <a:bodyPr/>
                    <a:lstStyle/>
                    <a:p>
                      <a:pPr lvl="0" indent="0" marL="0">
                        <a:buNone/>
                      </a:pPr>
                      <a:r>
                        <a:rPr/>
                        <a:t>8</a:t>
                      </a:r>
                    </a:p>
                  </a:txBody>
                </a:tc>
                <a:tc>
                  <a:txBody>
                    <a:bodyPr/>
                    <a:lstStyle/>
                    <a:p>
                      <a:pPr lvl="0" indent="0" marL="0">
                        <a:buNone/>
                      </a:pPr>
                      <a:r>
                        <a:rPr/>
                        <a:t>רון חולדאי</a:t>
                      </a:r>
                    </a:p>
                  </a:txBody>
                </a:tc>
                <a:tc>
                  <a:txBody>
                    <a:bodyPr/>
                    <a:lstStyle/>
                    <a:p>
                      <a:pPr lvl="0" indent="0" marL="0">
                        <a:buNone/>
                      </a:pPr>
                      <a:r>
                        <a:rPr/>
                        <a:t>חדשה</a:t>
                      </a:r>
                    </a:p>
                  </a:txBody>
                </a:tc>
                <a:tc>
                  <a:txBody>
                    <a:bodyPr/>
                    <a:lstStyle/>
                    <a:p>
                      <a:pPr lvl="0" indent="0" marL="0">
                        <a:buNone/>
                      </a:pPr>
                      <a:r>
                        <a:rPr/>
                        <a:t>8.0</a:t>
                      </a:r>
                    </a:p>
                  </a:txBody>
                </a:tc>
              </a:tr>
              <a:tr h="0">
                <a:tc>
                  <a:txBody>
                    <a:bodyPr/>
                    <a:lstStyle/>
                    <a:p>
                      <a:pPr lvl="0" indent="0" marL="0">
                        <a:buNone/>
                      </a:pPr>
                      <a:r>
                        <a:rPr/>
                        <a:t>9</a:t>
                      </a:r>
                    </a:p>
                  </a:txBody>
                </a:tc>
                <a:tc>
                  <a:txBody>
                    <a:bodyPr/>
                    <a:lstStyle/>
                    <a:p>
                      <a:pPr lvl="0" indent="0" marL="0">
                        <a:buNone/>
                      </a:pPr>
                      <a:r>
                        <a:rPr/>
                        <a:t>פרופ’ מני מזוז</a:t>
                      </a:r>
                    </a:p>
                  </a:txBody>
                </a:tc>
                <a:tc>
                  <a:txBody>
                    <a:bodyPr/>
                    <a:lstStyle/>
                    <a:p>
                      <a:pPr lvl="0" indent="0" marL="0">
                        <a:buNone/>
                      </a:pPr>
                      <a:r>
                        <a:rPr/>
                        <a:t>חדשה</a:t>
                      </a:r>
                    </a:p>
                  </a:txBody>
                </a:tc>
                <a:tc>
                  <a:txBody>
                    <a:bodyPr/>
                    <a:lstStyle/>
                    <a:p>
                      <a:pPr lvl="0" indent="0" marL="0">
                        <a:buNone/>
                      </a:pPr>
                      <a:r>
                        <a:rPr/>
                        <a:t>8.0</a:t>
                      </a:r>
                    </a:p>
                  </a:txBody>
                </a:tc>
              </a:tr>
              <a:tr h="0">
                <a:tc>
                  <a:txBody>
                    <a:bodyPr/>
                    <a:lstStyle/>
                    <a:p>
                      <a:pPr lvl="0" indent="0" marL="0">
                        <a:buNone/>
                      </a:pPr>
                      <a:r>
                        <a:rPr/>
                        <a:t>10</a:t>
                      </a:r>
                    </a:p>
                  </a:txBody>
                </a:tc>
                <a:tc>
                  <a:txBody>
                    <a:bodyPr/>
                    <a:lstStyle/>
                    <a:p>
                      <a:pPr lvl="0" indent="0" marL="0">
                        <a:buNone/>
                      </a:pPr>
                      <a:r>
                        <a:rPr/>
                        <a:t>גדעון סער</a:t>
                      </a:r>
                    </a:p>
                  </a:txBody>
                </a:tc>
                <a:tc>
                  <a:txBody>
                    <a:bodyPr/>
                    <a:lstStyle/>
                    <a:p>
                      <a:pPr lvl="0" indent="0" marL="0">
                        <a:buNone/>
                      </a:pPr>
                      <a:r>
                        <a:rPr/>
                        <a:t>חדשה</a:t>
                      </a:r>
                    </a:p>
                  </a:txBody>
                </a:tc>
                <a:tc>
                  <a:txBody>
                    <a:bodyPr/>
                    <a:lstStyle/>
                    <a:p>
                      <a:pPr lvl="0" indent="0" marL="0">
                        <a:buNone/>
                      </a:pPr>
                      <a:r>
                        <a:rPr/>
                        <a:t>7.8</a:t>
                      </a:r>
                    </a:p>
                  </a:txBody>
                </a:tc>
              </a:tr>
              <a:tr h="0">
                <a:tc>
                  <a:txBody>
                    <a:bodyPr/>
                    <a:lstStyle/>
                    <a:p>
                      <a:pPr lvl="0" indent="0" marL="0">
                        <a:buNone/>
                      </a:pPr>
                      <a:r>
                        <a:rPr/>
                        <a:t>11</a:t>
                      </a:r>
                    </a:p>
                  </a:txBody>
                </a:tc>
                <a:tc>
                  <a:txBody>
                    <a:bodyPr/>
                    <a:lstStyle/>
                    <a:p>
                      <a:pPr lvl="0" indent="0" marL="0">
                        <a:buNone/>
                      </a:pPr>
                      <a:r>
                        <a:rPr/>
                        <a:t>מרב מיכאלי</a:t>
                      </a:r>
                    </a:p>
                  </a:txBody>
                </a:tc>
                <a:tc>
                  <a:txBody>
                    <a:bodyPr/>
                    <a:lstStyle/>
                    <a:p>
                      <a:pPr lvl="0" indent="0" marL="0">
                        <a:buNone/>
                      </a:pPr>
                      <a:r>
                        <a:rPr/>
                        <a:t>הדמוקרטים</a:t>
                      </a:r>
                    </a:p>
                  </a:txBody>
                </a:tc>
                <a:tc>
                  <a:txBody>
                    <a:bodyPr/>
                    <a:lstStyle/>
                    <a:p>
                      <a:pPr lvl="0" indent="0" marL="0">
                        <a:buNone/>
                      </a:pPr>
                      <a:r>
                        <a:rPr/>
                        <a:t>7.8</a:t>
                      </a:r>
                    </a:p>
                  </a:txBody>
                </a:tc>
              </a:tr>
              <a:tr h="0">
                <a:tc>
                  <a:txBody>
                    <a:bodyPr/>
                    <a:lstStyle/>
                    <a:p>
                      <a:pPr lvl="0" indent="0" marL="0">
                        <a:buNone/>
                      </a:pPr>
                      <a:r>
                        <a:rPr/>
                        <a:t>12</a:t>
                      </a:r>
                    </a:p>
                  </a:txBody>
                </a:tc>
                <a:tc>
                  <a:txBody>
                    <a:bodyPr/>
                    <a:lstStyle/>
                    <a:p>
                      <a:pPr lvl="0" indent="0" marL="0">
                        <a:buNone/>
                      </a:pPr>
                      <a:r>
                        <a:rPr/>
                        <a:t>אהמד טיבי</a:t>
                      </a:r>
                    </a:p>
                  </a:txBody>
                </a:tc>
                <a:tc>
                  <a:txBody>
                    <a:bodyPr/>
                    <a:lstStyle/>
                    <a:p>
                      <a:pPr lvl="0" indent="0" marL="0">
                        <a:buNone/>
                      </a:pPr>
                      <a:r>
                        <a:rPr/>
                        <a:t>חד”ש-תע”ל</a:t>
                      </a:r>
                    </a:p>
                  </a:txBody>
                </a:tc>
                <a:tc>
                  <a:txBody>
                    <a:bodyPr/>
                    <a:lstStyle/>
                    <a:p>
                      <a:pPr lvl="0" indent="0" marL="0">
                        <a:buNone/>
                      </a:pPr>
                      <a:r>
                        <a:rPr/>
                        <a:t>7.7</a:t>
                      </a:r>
                    </a:p>
                  </a:txBody>
                </a:tc>
              </a:tr>
              <a:tr h="0">
                <a:tc>
                  <a:txBody>
                    <a:bodyPr/>
                    <a:lstStyle/>
                    <a:p>
                      <a:pPr lvl="0" indent="0" marL="0">
                        <a:buNone/>
                      </a:pPr>
                      <a:r>
                        <a:rPr/>
                        <a:t>13</a:t>
                      </a:r>
                    </a:p>
                  </a:txBody>
                </a:tc>
                <a:tc>
                  <a:txBody>
                    <a:bodyPr/>
                    <a:lstStyle/>
                    <a:p>
                      <a:pPr lvl="0" indent="0" marL="0">
                        <a:buNone/>
                      </a:pPr>
                      <a:r>
                        <a:rPr/>
                        <a:t>יאיר לפיד</a:t>
                      </a:r>
                    </a:p>
                  </a:txBody>
                </a:tc>
                <a:tc>
                  <a:txBody>
                    <a:bodyPr/>
                    <a:lstStyle/>
                    <a:p>
                      <a:pPr lvl="0" indent="0" marL="0">
                        <a:buNone/>
                      </a:pPr>
                      <a:r>
                        <a:rPr/>
                        <a:t>יש עתיד</a:t>
                      </a:r>
                    </a:p>
                  </a:txBody>
                </a:tc>
                <a:tc>
                  <a:txBody>
                    <a:bodyPr/>
                    <a:lstStyle/>
                    <a:p>
                      <a:pPr lvl="0" indent="0" marL="0">
                        <a:buNone/>
                      </a:pPr>
                      <a:r>
                        <a:rPr/>
                        <a:t>7.7</a:t>
                      </a:r>
                    </a:p>
                  </a:txBody>
                </a:tc>
              </a:tr>
              <a:tr h="0">
                <a:tc>
                  <a:txBody>
                    <a:bodyPr/>
                    <a:lstStyle/>
                    <a:p>
                      <a:pPr lvl="0" indent="0" marL="0">
                        <a:buNone/>
                      </a:pPr>
                      <a:r>
                        <a:rPr/>
                        <a:t>14</a:t>
                      </a:r>
                    </a:p>
                  </a:txBody>
                </a:tc>
                <a:tc>
                  <a:txBody>
                    <a:bodyPr/>
                    <a:lstStyle/>
                    <a:p>
                      <a:pPr lvl="0" indent="0" marL="0">
                        <a:buNone/>
                      </a:pPr>
                      <a:r>
                        <a:rPr/>
                        <a:t>בני גנץ</a:t>
                      </a:r>
                    </a:p>
                  </a:txBody>
                </a:tc>
                <a:tc>
                  <a:txBody>
                    <a:bodyPr/>
                    <a:lstStyle/>
                    <a:p>
                      <a:pPr lvl="0" indent="0" marL="0">
                        <a:buNone/>
                      </a:pPr>
                      <a:r>
                        <a:rPr/>
                        <a:t>המחנה</a:t>
                      </a:r>
                    </a:p>
                  </a:txBody>
                </a:tc>
                <a:tc>
                  <a:txBody>
                    <a:bodyPr/>
                    <a:lstStyle/>
                    <a:p>
                      <a:pPr lvl="0" indent="0" marL="0">
                        <a:buNone/>
                      </a:pPr>
                      <a:r>
                        <a:rPr/>
                        <a:t>7.7</a:t>
                      </a:r>
                    </a:p>
                  </a:txBody>
                </a:tc>
              </a:tr>
              <a:tr h="0">
                <a:tc>
                  <a:txBody>
                    <a:bodyPr/>
                    <a:lstStyle/>
                    <a:p>
                      <a:pPr lvl="0" indent="0" marL="0">
                        <a:buNone/>
                      </a:pPr>
                      <a:r>
                        <a:rPr/>
                        <a:t>15</a:t>
                      </a:r>
                    </a:p>
                  </a:txBody>
                </a:tc>
                <a:tc>
                  <a:txBody>
                    <a:bodyPr/>
                    <a:lstStyle/>
                    <a:p>
                      <a:pPr lvl="0" indent="0" marL="0">
                        <a:buNone/>
                      </a:pPr>
                      <a:r>
                        <a:rPr/>
                        <a:t>רם בן-ברק</a:t>
                      </a:r>
                    </a:p>
                  </a:txBody>
                </a:tc>
                <a:tc>
                  <a:txBody>
                    <a:bodyPr/>
                    <a:lstStyle/>
                    <a:p>
                      <a:pPr lvl="0" indent="0" marL="0">
                        <a:buNone/>
                      </a:pPr>
                      <a:r>
                        <a:rPr/>
                        <a:t>יש עתיד</a:t>
                      </a:r>
                    </a:p>
                  </a:txBody>
                </a:tc>
                <a:tc>
                  <a:txBody>
                    <a:bodyPr/>
                    <a:lstStyle/>
                    <a:p>
                      <a:pPr lvl="0" indent="0" marL="0">
                        <a:buNone/>
                      </a:pPr>
                      <a:r>
                        <a:rPr/>
                        <a:t>7.5</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8.2 Bottom 10 (SR &lt; 3)</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דירוג</a:t>
                      </a:r>
                    </a:p>
                  </a:txBody>
                  <a:tcPr/>
                </a:tc>
                <a:tc>
                  <a:txBody>
                    <a:bodyPr/>
                    <a:lstStyle/>
                    <a:p>
                      <a:pPr lvl="0" indent="0" marL="0">
                        <a:buNone/>
                      </a:pPr>
                      <a:r>
                        <a:rPr/>
                        <a:t>ח”כ</a:t>
                      </a:r>
                    </a:p>
                  </a:txBody>
                  <a:tcPr/>
                </a:tc>
                <a:tc>
                  <a:txBody>
                    <a:bodyPr/>
                    <a:lstStyle/>
                    <a:p>
                      <a:pPr lvl="0" indent="0" marL="0">
                        <a:buNone/>
                      </a:pPr>
                      <a:r>
                        <a:rPr/>
                        <a:t>רשימה</a:t>
                      </a:r>
                    </a:p>
                  </a:txBody>
                  <a:tcPr/>
                </a:tc>
                <a:tc>
                  <a:txBody>
                    <a:bodyPr/>
                    <a:lstStyle/>
                    <a:p>
                      <a:pPr lvl="0" indent="0" marL="0">
                        <a:buNone/>
                      </a:pPr>
                      <a:r>
                        <a:rPr/>
                        <a:t>SR</a:t>
                      </a:r>
                    </a:p>
                  </a:txBody>
                  <a:tcPr/>
                </a:tc>
              </a:tr>
              <a:tr h="0">
                <a:tc>
                  <a:txBody>
                    <a:bodyPr/>
                    <a:lstStyle/>
                    <a:p>
                      <a:pPr lvl="0" indent="0" marL="0">
                        <a:buNone/>
                      </a:pPr>
                      <a:r>
                        <a:rPr/>
                        <a:t>🚨</a:t>
                      </a:r>
                    </a:p>
                  </a:txBody>
                </a:tc>
                <a:tc>
                  <a:txBody>
                    <a:bodyPr/>
                    <a:lstStyle/>
                    <a:p>
                      <a:pPr lvl="0" indent="0" marL="0">
                        <a:buNone/>
                      </a:pPr>
                      <a:r>
                        <a:rPr b="1"/>
                        <a:t>עמיחי אליהו</a:t>
                      </a:r>
                    </a:p>
                  </a:txBody>
                </a:tc>
                <a:tc>
                  <a:txBody>
                    <a:bodyPr/>
                    <a:lstStyle/>
                    <a:p>
                      <a:pPr lvl="0" indent="0" marL="0">
                        <a:buNone/>
                      </a:pPr>
                      <a:r>
                        <a:rPr/>
                        <a:t>עוצמה יהודית</a:t>
                      </a:r>
                    </a:p>
                  </a:txBody>
                </a:tc>
                <a:tc>
                  <a:txBody>
                    <a:bodyPr/>
                    <a:lstStyle/>
                    <a:p>
                      <a:pPr lvl="0" indent="0" marL="0">
                        <a:buNone/>
                      </a:pPr>
                      <a:r>
                        <a:rPr b="1"/>
                        <a:t>1.7</a:t>
                      </a:r>
                    </a:p>
                  </a:txBody>
                </a:tc>
              </a:tr>
              <a:tr h="0">
                <a:tc>
                  <a:txBody>
                    <a:bodyPr/>
                    <a:lstStyle/>
                    <a:p>
                      <a:pPr lvl="0" indent="0" marL="0">
                        <a:buNone/>
                      </a:pPr>
                      <a:r>
                        <a:rPr/>
                        <a:t>🚨</a:t>
                      </a:r>
                    </a:p>
                  </a:txBody>
                </a:tc>
                <a:tc>
                  <a:txBody>
                    <a:bodyPr/>
                    <a:lstStyle/>
                    <a:p>
                      <a:pPr lvl="0" indent="0" marL="0">
                        <a:buNone/>
                      </a:pPr>
                      <a:r>
                        <a:rPr/>
                        <a:t>איתמר בן-גביר</a:t>
                      </a:r>
                    </a:p>
                  </a:txBody>
                </a:tc>
                <a:tc>
                  <a:txBody>
                    <a:bodyPr/>
                    <a:lstStyle/>
                    <a:p>
                      <a:pPr lvl="0" indent="0" marL="0">
                        <a:buNone/>
                      </a:pPr>
                      <a:r>
                        <a:rPr/>
                        <a:t>עוצמה יהודית</a:t>
                      </a:r>
                    </a:p>
                  </a:txBody>
                </a:tc>
                <a:tc>
                  <a:txBody>
                    <a:bodyPr/>
                    <a:lstStyle/>
                    <a:p>
                      <a:pPr lvl="0" indent="0" marL="0">
                        <a:buNone/>
                      </a:pPr>
                      <a:r>
                        <a:rPr/>
                        <a:t>2.0</a:t>
                      </a:r>
                    </a:p>
                  </a:txBody>
                </a:tc>
              </a:tr>
              <a:tr h="0">
                <a:tc>
                  <a:txBody>
                    <a:bodyPr/>
                    <a:lstStyle/>
                    <a:p>
                      <a:pPr lvl="0" indent="0" marL="0">
                        <a:buNone/>
                      </a:pPr>
                      <a:r>
                        <a:rPr/>
                        <a:t>🚨</a:t>
                      </a:r>
                    </a:p>
                  </a:txBody>
                </a:tc>
                <a:tc>
                  <a:txBody>
                    <a:bodyPr/>
                    <a:lstStyle/>
                    <a:p>
                      <a:pPr lvl="0" indent="0" marL="0">
                        <a:buNone/>
                      </a:pPr>
                      <a:r>
                        <a:rPr/>
                        <a:t>יריב לוין</a:t>
                      </a:r>
                    </a:p>
                  </a:txBody>
                </a:tc>
                <a:tc>
                  <a:txBody>
                    <a:bodyPr/>
                    <a:lstStyle/>
                    <a:p>
                      <a:pPr lvl="0" indent="0" marL="0">
                        <a:buNone/>
                      </a:pPr>
                      <a:r>
                        <a:rPr/>
                        <a:t>ליכוד</a:t>
                      </a:r>
                    </a:p>
                  </a:txBody>
                </a:tc>
                <a:tc>
                  <a:txBody>
                    <a:bodyPr/>
                    <a:lstStyle/>
                    <a:p>
                      <a:pPr lvl="0" indent="0" marL="0">
                        <a:buNone/>
                      </a:pPr>
                      <a:r>
                        <a:rPr/>
                        <a:t>1.0</a:t>
                      </a:r>
                    </a:p>
                  </a:txBody>
                </a:tc>
              </a:tr>
              <a:tr h="0">
                <a:tc>
                  <a:txBody>
                    <a:bodyPr/>
                    <a:lstStyle/>
                    <a:p>
                      <a:pPr lvl="0" indent="0" marL="0">
                        <a:buNone/>
                      </a:pPr>
                      <a:r>
                        <a:rPr/>
                        <a:t>🚨</a:t>
                      </a:r>
                    </a:p>
                  </a:txBody>
                </a:tc>
                <a:tc>
                  <a:txBody>
                    <a:bodyPr/>
                    <a:lstStyle/>
                    <a:p>
                      <a:pPr lvl="0" indent="0" marL="0">
                        <a:buNone/>
                      </a:pPr>
                      <a:r>
                        <a:rPr/>
                        <a:t>שמחה רוטמן</a:t>
                      </a:r>
                    </a:p>
                  </a:txBody>
                </a:tc>
                <a:tc>
                  <a:txBody>
                    <a:bodyPr/>
                    <a:lstStyle/>
                    <a:p>
                      <a:pPr lvl="0" indent="0" marL="0">
                        <a:buNone/>
                      </a:pPr>
                      <a:r>
                        <a:rPr/>
                        <a:t>ציונות דתית</a:t>
                      </a:r>
                    </a:p>
                  </a:txBody>
                </a:tc>
                <a:tc>
                  <a:txBody>
                    <a:bodyPr/>
                    <a:lstStyle/>
                    <a:p>
                      <a:pPr lvl="0" indent="0" marL="0">
                        <a:buNone/>
                      </a:pPr>
                      <a:r>
                        <a:rPr/>
                        <a:t>0.5</a:t>
                      </a:r>
                    </a:p>
                  </a:txBody>
                </a:tc>
              </a:tr>
              <a:tr h="0">
                <a:tc>
                  <a:txBody>
                    <a:bodyPr/>
                    <a:lstStyle/>
                    <a:p>
                      <a:endParaRPr/>
                    </a:p>
                  </a:txBody>
                </a:tc>
                <a:tc>
                  <a:txBody>
                    <a:bodyPr/>
                    <a:lstStyle/>
                    <a:p>
                      <a:pPr lvl="0" indent="0" marL="0">
                        <a:buNone/>
                      </a:pPr>
                      <a:r>
                        <a:rPr/>
                        <a:t>סמוטריץ’</a:t>
                      </a:r>
                    </a:p>
                  </a:txBody>
                </a:tc>
                <a:tc>
                  <a:txBody>
                    <a:bodyPr/>
                    <a:lstStyle/>
                    <a:p>
                      <a:pPr lvl="0" indent="0" marL="0">
                        <a:buNone/>
                      </a:pPr>
                      <a:r>
                        <a:rPr/>
                        <a:t>ציונות דתית</a:t>
                      </a:r>
                    </a:p>
                  </a:txBody>
                </a:tc>
                <a:tc>
                  <a:txBody>
                    <a:bodyPr/>
                    <a:lstStyle/>
                    <a:p>
                      <a:pPr lvl="0" indent="0" marL="0">
                        <a:buNone/>
                      </a:pPr>
                      <a:r>
                        <a:rPr/>
                        <a:t>2.0</a:t>
                      </a:r>
                    </a:p>
                  </a:txBody>
                </a:tc>
              </a:tr>
              <a:tr h="0">
                <a:tc>
                  <a:txBody>
                    <a:bodyPr/>
                    <a:lstStyle/>
                    <a:p>
                      <a:endParaRPr/>
                    </a:p>
                  </a:txBody>
                </a:tc>
                <a:tc>
                  <a:txBody>
                    <a:bodyPr/>
                    <a:lstStyle/>
                    <a:p>
                      <a:pPr lvl="0" indent="0" marL="0">
                        <a:buNone/>
                      </a:pPr>
                      <a:r>
                        <a:rPr/>
                        <a:t>הרב גולדקנופף</a:t>
                      </a:r>
                    </a:p>
                  </a:txBody>
                </a:tc>
                <a:tc>
                  <a:txBody>
                    <a:bodyPr/>
                    <a:lstStyle/>
                    <a:p>
                      <a:pPr lvl="0" indent="0" marL="0">
                        <a:buNone/>
                      </a:pPr>
                      <a:r>
                        <a:rPr/>
                        <a:t>יהדות התורה</a:t>
                      </a:r>
                    </a:p>
                  </a:txBody>
                </a:tc>
                <a:tc>
                  <a:txBody>
                    <a:bodyPr/>
                    <a:lstStyle/>
                    <a:p>
                      <a:pPr lvl="0" indent="0" marL="0">
                        <a:buNone/>
                      </a:pPr>
                      <a:r>
                        <a:rPr/>
                        <a:t>2.7</a:t>
                      </a:r>
                    </a:p>
                  </a:txBody>
                </a:tc>
              </a:tr>
              <a:tr h="0">
                <a:tc>
                  <a:txBody>
                    <a:bodyPr/>
                    <a:lstStyle/>
                    <a:p>
                      <a:endParaRPr/>
                    </a:p>
                  </a:txBody>
                </a:tc>
                <a:tc>
                  <a:txBody>
                    <a:bodyPr/>
                    <a:lstStyle/>
                    <a:p>
                      <a:pPr lvl="0" indent="0" marL="0">
                        <a:buNone/>
                      </a:pPr>
                      <a:r>
                        <a:rPr/>
                        <a:t>אוריאל בוסו</a:t>
                      </a:r>
                    </a:p>
                  </a:txBody>
                </a:tc>
                <a:tc>
                  <a:txBody>
                    <a:bodyPr/>
                    <a:lstStyle/>
                    <a:p>
                      <a:pPr lvl="0" indent="0" marL="0">
                        <a:buNone/>
                      </a:pPr>
                      <a:r>
                        <a:rPr/>
                        <a:t>ש”ס</a:t>
                      </a:r>
                    </a:p>
                  </a:txBody>
                </a:tc>
                <a:tc>
                  <a:txBody>
                    <a:bodyPr/>
                    <a:lstStyle/>
                    <a:p>
                      <a:pPr lvl="0" indent="0" marL="0">
                        <a:buNone/>
                      </a:pPr>
                      <a:r>
                        <a:rPr/>
                        <a:t>3.3</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8.3 ציון רשימות 2027</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דירוג</a:t>
                      </a:r>
                    </a:p>
                  </a:txBody>
                  <a:tcPr/>
                </a:tc>
                <a:tc>
                  <a:txBody>
                    <a:bodyPr/>
                    <a:lstStyle/>
                    <a:p>
                      <a:pPr lvl="0" indent="0" marL="0">
                        <a:buNone/>
                      </a:pPr>
                      <a:r>
                        <a:rPr/>
                        <a:t>רשימה</a:t>
                      </a:r>
                    </a:p>
                  </a:txBody>
                  <a:tcPr/>
                </a:tc>
                <a:tc>
                  <a:txBody>
                    <a:bodyPr/>
                    <a:lstStyle/>
                    <a:p>
                      <a:pPr lvl="0" indent="0" marL="0">
                        <a:buNone/>
                      </a:pPr>
                      <a:r>
                        <a:rPr/>
                        <a:t>ציון כולל</a:t>
                      </a:r>
                    </a:p>
                  </a:txBody>
                  <a:tcPr/>
                </a:tc>
                <a:tc>
                  <a:txBody>
                    <a:bodyPr/>
                    <a:lstStyle/>
                    <a:p>
                      <a:pPr lvl="0" indent="0" marL="0">
                        <a:buNone/>
                      </a:pPr>
                      <a:r>
                        <a:rPr/>
                        <a:t>מנדטים חזויים</a:t>
                      </a:r>
                    </a:p>
                  </a:txBody>
                  <a:tcPr/>
                </a:tc>
              </a:tr>
              <a:tr h="0">
                <a:tc>
                  <a:txBody>
                    <a:bodyPr/>
                    <a:lstStyle/>
                    <a:p>
                      <a:pPr lvl="0" indent="0" marL="0">
                        <a:buNone/>
                      </a:pPr>
                      <a:r>
                        <a:rPr/>
                        <a:t>🥇</a:t>
                      </a:r>
                    </a:p>
                  </a:txBody>
                </a:tc>
                <a:tc>
                  <a:txBody>
                    <a:bodyPr/>
                    <a:lstStyle/>
                    <a:p>
                      <a:pPr lvl="0" indent="0" marL="0">
                        <a:buNone/>
                      </a:pPr>
                      <a:r>
                        <a:rPr/>
                        <a:t>מפלגת אייזנקוט חדשה</a:t>
                      </a:r>
                    </a:p>
                  </a:txBody>
                </a:tc>
                <a:tc>
                  <a:txBody>
                    <a:bodyPr/>
                    <a:lstStyle/>
                    <a:p>
                      <a:pPr lvl="0" indent="0" marL="0">
                        <a:buNone/>
                      </a:pPr>
                      <a:r>
                        <a:rPr b="1"/>
                        <a:t>9.0</a:t>
                      </a:r>
                    </a:p>
                  </a:txBody>
                </a:tc>
                <a:tc>
                  <a:txBody>
                    <a:bodyPr/>
                    <a:lstStyle/>
                    <a:p>
                      <a:pPr lvl="0" indent="0" marL="0">
                        <a:buNone/>
                      </a:pPr>
                      <a:r>
                        <a:rPr/>
                        <a:t>22</a:t>
                      </a:r>
                    </a:p>
                  </a:txBody>
                </a:tc>
              </a:tr>
              <a:tr h="0">
                <a:tc>
                  <a:txBody>
                    <a:bodyPr/>
                    <a:lstStyle/>
                    <a:p>
                      <a:pPr lvl="0" indent="0" marL="0">
                        <a:buNone/>
                      </a:pPr>
                      <a:r>
                        <a:rPr/>
                        <a:t>🥈</a:t>
                      </a:r>
                    </a:p>
                  </a:txBody>
                </a:tc>
                <a:tc>
                  <a:txBody>
                    <a:bodyPr/>
                    <a:lstStyle/>
                    <a:p>
                      <a:pPr lvl="0" indent="0" marL="0">
                        <a:buNone/>
                      </a:pPr>
                      <a:r>
                        <a:rPr/>
                        <a:t>המחנה הממלכתי</a:t>
                      </a:r>
                    </a:p>
                  </a:txBody>
                </a:tc>
                <a:tc>
                  <a:txBody>
                    <a:bodyPr/>
                    <a:lstStyle/>
                    <a:p>
                      <a:pPr lvl="0" indent="0" marL="0">
                        <a:buNone/>
                      </a:pPr>
                      <a:r>
                        <a:rPr/>
                        <a:t>8.0</a:t>
                      </a:r>
                    </a:p>
                  </a:txBody>
                </a:tc>
                <a:tc>
                  <a:txBody>
                    <a:bodyPr/>
                    <a:lstStyle/>
                    <a:p>
                      <a:pPr lvl="0" indent="0" marL="0">
                        <a:buNone/>
                      </a:pPr>
                      <a:r>
                        <a:rPr/>
                        <a:t>10</a:t>
                      </a:r>
                    </a:p>
                  </a:txBody>
                </a:tc>
              </a:tr>
              <a:tr h="0">
                <a:tc>
                  <a:txBody>
                    <a:bodyPr/>
                    <a:lstStyle/>
                    <a:p>
                      <a:pPr lvl="0" indent="0" marL="0">
                        <a:buNone/>
                      </a:pPr>
                      <a:r>
                        <a:rPr/>
                        <a:t>🥉</a:t>
                      </a:r>
                    </a:p>
                  </a:txBody>
                </a:tc>
                <a:tc>
                  <a:txBody>
                    <a:bodyPr/>
                    <a:lstStyle/>
                    <a:p>
                      <a:pPr lvl="0" indent="0" marL="0">
                        <a:buNone/>
                      </a:pPr>
                      <a:r>
                        <a:rPr/>
                        <a:t>הדמוקרטים</a:t>
                      </a:r>
                    </a:p>
                  </a:txBody>
                </a:tc>
                <a:tc>
                  <a:txBody>
                    <a:bodyPr/>
                    <a:lstStyle/>
                    <a:p>
                      <a:pPr lvl="0" indent="0" marL="0">
                        <a:buNone/>
                      </a:pPr>
                      <a:r>
                        <a:rPr/>
                        <a:t>7.8</a:t>
                      </a:r>
                    </a:p>
                  </a:txBody>
                </a:tc>
                <a:tc>
                  <a:txBody>
                    <a:bodyPr/>
                    <a:lstStyle/>
                    <a:p>
                      <a:pPr lvl="0" indent="0" marL="0">
                        <a:buNone/>
                      </a:pPr>
                      <a:r>
                        <a:rPr/>
                        <a:t>10</a:t>
                      </a:r>
                    </a:p>
                  </a:txBody>
                </a:tc>
              </a:tr>
              <a:tr h="0">
                <a:tc>
                  <a:txBody>
                    <a:bodyPr/>
                    <a:lstStyle/>
                    <a:p>
                      <a:pPr lvl="0" indent="0" marL="0">
                        <a:buNone/>
                      </a:pPr>
                      <a:r>
                        <a:rPr/>
                        <a:t>4</a:t>
                      </a:r>
                    </a:p>
                  </a:txBody>
                </a:tc>
                <a:tc>
                  <a:txBody>
                    <a:bodyPr/>
                    <a:lstStyle/>
                    <a:p>
                      <a:pPr lvl="0" indent="0" marL="0">
                        <a:buNone/>
                      </a:pPr>
                      <a:r>
                        <a:rPr/>
                        <a:t>יש עתיד</a:t>
                      </a:r>
                    </a:p>
                  </a:txBody>
                </a:tc>
                <a:tc>
                  <a:txBody>
                    <a:bodyPr/>
                    <a:lstStyle/>
                    <a:p>
                      <a:pPr lvl="0" indent="0" marL="0">
                        <a:buNone/>
                      </a:pPr>
                      <a:r>
                        <a:rPr/>
                        <a:t>7.3</a:t>
                      </a:r>
                    </a:p>
                  </a:txBody>
                </a:tc>
                <a:tc>
                  <a:txBody>
                    <a:bodyPr/>
                    <a:lstStyle/>
                    <a:p>
                      <a:pPr lvl="0" indent="0" marL="0">
                        <a:buNone/>
                      </a:pPr>
                      <a:r>
                        <a:rPr/>
                        <a:t>18</a:t>
                      </a:r>
                    </a:p>
                  </a:txBody>
                </a:tc>
              </a:tr>
              <a:tr h="0">
                <a:tc>
                  <a:txBody>
                    <a:bodyPr/>
                    <a:lstStyle/>
                    <a:p>
                      <a:pPr lvl="0" indent="0" marL="0">
                        <a:buNone/>
                      </a:pPr>
                      <a:r>
                        <a:rPr/>
                        <a:t>5</a:t>
                      </a:r>
                    </a:p>
                  </a:txBody>
                </a:tc>
                <a:tc>
                  <a:txBody>
                    <a:bodyPr/>
                    <a:lstStyle/>
                    <a:p>
                      <a:pPr lvl="0" indent="0" marL="0">
                        <a:buNone/>
                      </a:pPr>
                      <a:r>
                        <a:rPr/>
                        <a:t>חד”ש-תע”ל</a:t>
                      </a:r>
                    </a:p>
                  </a:txBody>
                </a:tc>
                <a:tc>
                  <a:txBody>
                    <a:bodyPr/>
                    <a:lstStyle/>
                    <a:p>
                      <a:pPr lvl="0" indent="0" marL="0">
                        <a:buNone/>
                      </a:pPr>
                      <a:r>
                        <a:rPr/>
                        <a:t>7.0</a:t>
                      </a:r>
                    </a:p>
                  </a:txBody>
                </a:tc>
                <a:tc>
                  <a:txBody>
                    <a:bodyPr/>
                    <a:lstStyle/>
                    <a:p>
                      <a:pPr lvl="0" indent="0" marL="0">
                        <a:buNone/>
                      </a:pPr>
                      <a:r>
                        <a:rPr/>
                        <a:t>5</a:t>
                      </a:r>
                    </a:p>
                  </a:txBody>
                </a:tc>
              </a:tr>
              <a:tr h="0">
                <a:tc>
                  <a:txBody>
                    <a:bodyPr/>
                    <a:lstStyle/>
                    <a:p>
                      <a:pPr lvl="0" indent="0" marL="0">
                        <a:buNone/>
                      </a:pPr>
                      <a:r>
                        <a:rPr/>
                        <a:t>…</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11</a:t>
                      </a:r>
                    </a:p>
                  </a:txBody>
                </a:tc>
                <a:tc>
                  <a:txBody>
                    <a:bodyPr/>
                    <a:lstStyle/>
                    <a:p>
                      <a:pPr lvl="0" indent="0" marL="0">
                        <a:buNone/>
                      </a:pPr>
                      <a:r>
                        <a:rPr b="1"/>
                        <a:t>ליכוד (עם נתניהו)</a:t>
                      </a:r>
                    </a:p>
                  </a:txBody>
                </a:tc>
                <a:tc>
                  <a:txBody>
                    <a:bodyPr/>
                    <a:lstStyle/>
                    <a:p>
                      <a:pPr lvl="0" indent="0" marL="0">
                        <a:buNone/>
                      </a:pPr>
                      <a:r>
                        <a:rPr b="1"/>
                        <a:t>4.0</a:t>
                      </a:r>
                    </a:p>
                  </a:txBody>
                </a:tc>
                <a:tc>
                  <a:txBody>
                    <a:bodyPr/>
                    <a:lstStyle/>
                    <a:p>
                      <a:pPr lvl="0" indent="0" marL="0">
                        <a:buNone/>
                      </a:pPr>
                      <a:r>
                        <a:rPr/>
                        <a:t>25</a:t>
                      </a:r>
                    </a:p>
                  </a:txBody>
                </a:tc>
              </a:tr>
              <a:tr h="0">
                <a:tc>
                  <a:txBody>
                    <a:bodyPr/>
                    <a:lstStyle/>
                    <a:p>
                      <a:pPr lvl="0" indent="0" marL="0">
                        <a:buNone/>
                      </a:pPr>
                      <a:r>
                        <a:rPr/>
                        <a:t>12</a:t>
                      </a:r>
                    </a:p>
                  </a:txBody>
                </a:tc>
                <a:tc>
                  <a:txBody>
                    <a:bodyPr/>
                    <a:lstStyle/>
                    <a:p>
                      <a:pPr lvl="0" indent="0" marL="0">
                        <a:buNone/>
                      </a:pPr>
                      <a:r>
                        <a:rPr/>
                        <a:t>ציונות דתית</a:t>
                      </a:r>
                    </a:p>
                  </a:txBody>
                </a:tc>
                <a:tc>
                  <a:txBody>
                    <a:bodyPr/>
                    <a:lstStyle/>
                    <a:p>
                      <a:pPr lvl="0" indent="0" marL="0">
                        <a:buNone/>
                      </a:pPr>
                      <a:r>
                        <a:rPr/>
                        <a:t>3.0</a:t>
                      </a:r>
                    </a:p>
                  </a:txBody>
                </a:tc>
                <a:tc>
                  <a:txBody>
                    <a:bodyPr/>
                    <a:lstStyle/>
                    <a:p>
                      <a:pPr lvl="0" indent="0" marL="0">
                        <a:buNone/>
                      </a:pPr>
                      <a:r>
                        <a:rPr/>
                        <a:t>10</a:t>
                      </a:r>
                    </a:p>
                  </a:txBody>
                </a:tc>
              </a:tr>
              <a:tr h="0">
                <a:tc>
                  <a:txBody>
                    <a:bodyPr/>
                    <a:lstStyle/>
                    <a:p>
                      <a:pPr lvl="0" indent="0" marL="0">
                        <a:buNone/>
                      </a:pPr>
                      <a:r>
                        <a:rPr/>
                        <a:t>13</a:t>
                      </a:r>
                    </a:p>
                  </a:txBody>
                </a:tc>
                <a:tc>
                  <a:txBody>
                    <a:bodyPr/>
                    <a:lstStyle/>
                    <a:p>
                      <a:pPr lvl="0" indent="0" marL="0">
                        <a:buNone/>
                      </a:pPr>
                      <a:r>
                        <a:rPr/>
                        <a:t>ש”ס</a:t>
                      </a:r>
                    </a:p>
                  </a:txBody>
                </a:tc>
                <a:tc>
                  <a:txBody>
                    <a:bodyPr/>
                    <a:lstStyle/>
                    <a:p>
                      <a:pPr lvl="0" indent="0" marL="0">
                        <a:buNone/>
                      </a:pPr>
                      <a:r>
                        <a:rPr/>
                        <a:t>2.8</a:t>
                      </a:r>
                    </a:p>
                  </a:txBody>
                </a:tc>
                <a:tc>
                  <a:txBody>
                    <a:bodyPr/>
                    <a:lstStyle/>
                    <a:p>
                      <a:pPr lvl="0" indent="0" marL="0">
                        <a:buNone/>
                      </a:pPr>
                      <a:r>
                        <a:rPr/>
                        <a:t>10</a:t>
                      </a:r>
                    </a:p>
                  </a:txBody>
                </a:tc>
              </a:tr>
              <a:tr h="0">
                <a:tc>
                  <a:txBody>
                    <a:bodyPr/>
                    <a:lstStyle/>
                    <a:p>
                      <a:pPr lvl="0" indent="0" marL="0">
                        <a:buNone/>
                      </a:pPr>
                      <a:r>
                        <a:rPr/>
                        <a:t>🚨</a:t>
                      </a:r>
                    </a:p>
                  </a:txBody>
                </a:tc>
                <a:tc>
                  <a:txBody>
                    <a:bodyPr/>
                    <a:lstStyle/>
                    <a:p>
                      <a:pPr lvl="0" indent="0" marL="0">
                        <a:buNone/>
                      </a:pPr>
                      <a:r>
                        <a:rPr b="1"/>
                        <a:t>עוצמה יהודית</a:t>
                      </a:r>
                    </a:p>
                  </a:txBody>
                </a:tc>
                <a:tc>
                  <a:txBody>
                    <a:bodyPr/>
                    <a:lstStyle/>
                    <a:p>
                      <a:pPr lvl="0" indent="0" marL="0">
                        <a:buNone/>
                      </a:pPr>
                      <a:r>
                        <a:rPr b="1"/>
                        <a:t>1.0</a:t>
                      </a:r>
                    </a:p>
                  </a:txBody>
                </a:tc>
                <a:tc>
                  <a:txBody>
                    <a:bodyPr/>
                    <a:lstStyle/>
                    <a:p>
                      <a:pPr lvl="0" indent="0" marL="0">
                        <a:buNone/>
                      </a:pPr>
                      <a:r>
                        <a:rPr/>
                        <a:t>5</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9: תחזית 20,000 תרחישים (2035)</a:t>
            </a:r>
          </a:p>
        </p:txBody>
      </p:sp>
      <p:sp>
        <p:nvSpPr>
          <p:cNvPr id="4" name="Text Placeholder 3"/>
          <p:cNvSpPr>
            <a:spLocks noGrp="1"/>
          </p:cNvSpPr>
          <p:nvPr>
            <p:ph idx="2" sz="half" type="body"/>
          </p:nvPr>
        </p:nvSpPr>
        <p:spPr/>
        <p:txBody>
          <a:bodyPr/>
          <a:lstStyle/>
          <a:p>
            <a:pPr lvl="0" indent="0" marL="0">
              <a:spcBef>
                <a:spcPts val="3000"/>
              </a:spcBef>
              <a:buNone/>
            </a:pPr>
            <a:r>
              <a:rPr b="1"/>
              <a:t>9.1 התפלגות F</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F 2035</a:t>
                      </a:r>
                    </a:p>
                  </a:txBody>
                  <a:tcPr/>
                </a:tc>
                <a:tc>
                  <a:txBody>
                    <a:bodyPr/>
                    <a:lstStyle/>
                    <a:p>
                      <a:pPr lvl="0" indent="0" marL="0">
                        <a:buNone/>
                      </a:pPr>
                      <a:r>
                        <a:rPr/>
                        <a:t>סבירות</a:t>
                      </a:r>
                    </a:p>
                  </a:txBody>
                  <a:tcPr/>
                </a:tc>
                <a:tc>
                  <a:txBody>
                    <a:bodyPr/>
                    <a:lstStyle/>
                    <a:p>
                      <a:pPr lvl="0" indent="0" marL="0">
                        <a:buNone/>
                      </a:pPr>
                      <a:r>
                        <a:rPr/>
                        <a:t>פרשנות</a:t>
                      </a:r>
                    </a:p>
                  </a:txBody>
                  <a:tcPr/>
                </a:tc>
              </a:tr>
              <a:tr h="0">
                <a:tc>
                  <a:txBody>
                    <a:bodyPr/>
                    <a:lstStyle/>
                    <a:p>
                      <a:pPr lvl="0" indent="0" marL="0">
                        <a:buNone/>
                      </a:pPr>
                      <a:r>
                        <a:rPr/>
                        <a:t>F 0-2 (קטסטרופה)</a:t>
                      </a:r>
                    </a:p>
                  </a:txBody>
                </a:tc>
                <a:tc>
                  <a:txBody>
                    <a:bodyPr/>
                    <a:lstStyle/>
                    <a:p>
                      <a:pPr lvl="0" indent="0" marL="0">
                        <a:buNone/>
                      </a:pPr>
                      <a:r>
                        <a:rPr/>
                        <a:t>12%</a:t>
                      </a:r>
                    </a:p>
                  </a:txBody>
                </a:tc>
                <a:tc>
                  <a:txBody>
                    <a:bodyPr/>
                    <a:lstStyle/>
                    <a:p>
                      <a:pPr lvl="0" indent="0" marL="0">
                        <a:buNone/>
                      </a:pPr>
                      <a:r>
                        <a:rPr/>
                        <a:t>הונגריה 2</a:t>
                      </a:r>
                    </a:p>
                  </a:txBody>
                </a:tc>
              </a:tr>
              <a:tr h="0">
                <a:tc>
                  <a:txBody>
                    <a:bodyPr/>
                    <a:lstStyle/>
                    <a:p>
                      <a:pPr lvl="0" indent="0" marL="0">
                        <a:buNone/>
                      </a:pPr>
                      <a:r>
                        <a:rPr/>
                        <a:t>F 2-4 (גרוע)</a:t>
                      </a:r>
                    </a:p>
                  </a:txBody>
                </a:tc>
                <a:tc>
                  <a:txBody>
                    <a:bodyPr/>
                    <a:lstStyle/>
                    <a:p>
                      <a:pPr lvl="0" indent="0" marL="0">
                        <a:buNone/>
                      </a:pPr>
                      <a:r>
                        <a:rPr/>
                        <a:t>16%</a:t>
                      </a:r>
                    </a:p>
                  </a:txBody>
                </a:tc>
                <a:tc>
                  <a:txBody>
                    <a:bodyPr/>
                    <a:lstStyle/>
                    <a:p>
                      <a:pPr lvl="0" indent="0" marL="0">
                        <a:buNone/>
                      </a:pPr>
                      <a:r>
                        <a:rPr/>
                        <a:t>המשך קריסה</a:t>
                      </a:r>
                    </a:p>
                  </a:txBody>
                </a:tc>
              </a:tr>
              <a:tr h="0">
                <a:tc>
                  <a:txBody>
                    <a:bodyPr/>
                    <a:lstStyle/>
                    <a:p>
                      <a:pPr lvl="0" indent="0" marL="0">
                        <a:buNone/>
                      </a:pPr>
                      <a:r>
                        <a:rPr/>
                        <a:t>F 4-6 (ממוצע)</a:t>
                      </a:r>
                    </a:p>
                  </a:txBody>
                </a:tc>
                <a:tc>
                  <a:txBody>
                    <a:bodyPr/>
                    <a:lstStyle/>
                    <a:p>
                      <a:pPr lvl="0" indent="0" marL="0">
                        <a:buNone/>
                      </a:pPr>
                      <a:r>
                        <a:rPr/>
                        <a:t>28%</a:t>
                      </a:r>
                    </a:p>
                  </a:txBody>
                </a:tc>
                <a:tc>
                  <a:txBody>
                    <a:bodyPr/>
                    <a:lstStyle/>
                    <a:p>
                      <a:pPr lvl="0" indent="0" marL="0">
                        <a:buNone/>
                      </a:pPr>
                      <a:r>
                        <a:rPr/>
                        <a:t>סביר</a:t>
                      </a:r>
                    </a:p>
                  </a:txBody>
                </a:tc>
              </a:tr>
              <a:tr h="0">
                <a:tc>
                  <a:txBody>
                    <a:bodyPr/>
                    <a:lstStyle/>
                    <a:p>
                      <a:pPr lvl="0" indent="0" marL="0">
                        <a:buNone/>
                      </a:pPr>
                      <a:r>
                        <a:rPr b="1"/>
                        <a:t>F 6-8 (טוב)</a:t>
                      </a:r>
                    </a:p>
                  </a:txBody>
                </a:tc>
                <a:tc>
                  <a:txBody>
                    <a:bodyPr/>
                    <a:lstStyle/>
                    <a:p>
                      <a:pPr lvl="0" indent="0" marL="0">
                        <a:buNone/>
                      </a:pPr>
                      <a:r>
                        <a:rPr b="1"/>
                        <a:t>24%</a:t>
                      </a:r>
                    </a:p>
                  </a:txBody>
                </a:tc>
                <a:tc>
                  <a:txBody>
                    <a:bodyPr/>
                    <a:lstStyle/>
                    <a:p>
                      <a:pPr lvl="0" indent="0" marL="0">
                        <a:buNone/>
                      </a:pPr>
                      <a:r>
                        <a:rPr b="1"/>
                        <a:t>אופטימלי</a:t>
                      </a:r>
                    </a:p>
                  </a:txBody>
                </a:tc>
              </a:tr>
              <a:tr h="0">
                <a:tc>
                  <a:txBody>
                    <a:bodyPr/>
                    <a:lstStyle/>
                    <a:p>
                      <a:pPr lvl="0" indent="0" marL="0">
                        <a:buNone/>
                      </a:pPr>
                      <a:r>
                        <a:rPr/>
                        <a:t>F 8-12 (מצוין)</a:t>
                      </a:r>
                    </a:p>
                  </a:txBody>
                </a:tc>
                <a:tc>
                  <a:txBody>
                    <a:bodyPr/>
                    <a:lstStyle/>
                    <a:p>
                      <a:pPr lvl="0" indent="0" marL="0">
                        <a:buNone/>
                      </a:pPr>
                      <a:r>
                        <a:rPr/>
                        <a:t>14%</a:t>
                      </a:r>
                    </a:p>
                  </a:txBody>
                </a:tc>
                <a:tc>
                  <a:txBody>
                    <a:bodyPr/>
                    <a:lstStyle/>
                    <a:p>
                      <a:pPr lvl="0" indent="0" marL="0">
                        <a:buNone/>
                      </a:pPr>
                      <a:r>
                        <a:rPr/>
                        <a:t>חזרה ל-1990</a:t>
                      </a:r>
                    </a:p>
                  </a:txBody>
                </a:tc>
              </a:tr>
              <a:tr h="0">
                <a:tc>
                  <a:txBody>
                    <a:bodyPr/>
                    <a:lstStyle/>
                    <a:p>
                      <a:pPr lvl="0" indent="0" marL="0">
                        <a:buNone/>
                      </a:pPr>
                      <a:r>
                        <a:rPr/>
                        <a:t>F 12-20 (אוטופיה)</a:t>
                      </a:r>
                    </a:p>
                  </a:txBody>
                </a:tc>
                <a:tc>
                  <a:txBody>
                    <a:bodyPr/>
                    <a:lstStyle/>
                    <a:p>
                      <a:pPr lvl="0" indent="0" marL="0">
                        <a:buNone/>
                      </a:pPr>
                      <a:r>
                        <a:rPr/>
                        <a:t>6%</a:t>
                      </a:r>
                    </a:p>
                  </a:txBody>
                </a:tc>
                <a:tc>
                  <a:txBody>
                    <a:bodyPr/>
                    <a:lstStyle/>
                    <a:p>
                      <a:pPr lvl="0" indent="0" marL="0">
                        <a:buNone/>
                      </a:pPr>
                      <a:r>
                        <a:rPr/>
                        <a:t>חזרה ל-1965</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ממוצע חזוי</a:t>
            </a:r>
            <a:r>
              <a:rPr/>
              <a:t>: F=6.1 (עליה פי 10 מ-היום)</a:t>
            </a:r>
          </a:p>
          <a:p>
            <a:pPr lvl="0" indent="0" marL="0">
              <a:spcBef>
                <a:spcPts val="3000"/>
              </a:spcBef>
              <a:buNone/>
            </a:pPr>
            <a:r>
              <a:rPr b="1"/>
              <a:t>9.2 6 תרחישים מרכזיים (2027)</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תרחיש</a:t>
                      </a:r>
                    </a:p>
                  </a:txBody>
                  <a:tcPr/>
                </a:tc>
                <a:tc>
                  <a:txBody>
                    <a:bodyPr/>
                    <a:lstStyle/>
                    <a:p>
                      <a:pPr lvl="0" indent="0" marL="0">
                        <a:buNone/>
                      </a:pPr>
                      <a:r>
                        <a:rPr/>
                        <a:t>סבירות</a:t>
                      </a:r>
                    </a:p>
                  </a:txBody>
                  <a:tcPr/>
                </a:tc>
                <a:tc>
                  <a:txBody>
                    <a:bodyPr/>
                    <a:lstStyle/>
                    <a:p>
                      <a:pPr lvl="0" indent="0" marL="0">
                        <a:buNone/>
                      </a:pPr>
                      <a:r>
                        <a:rPr/>
                        <a:t>F צפוי</a:t>
                      </a:r>
                    </a:p>
                  </a:txBody>
                  <a:tcPr/>
                </a:tc>
                <a:tc>
                  <a:txBody>
                    <a:bodyPr/>
                    <a:lstStyle/>
                    <a:p>
                      <a:pPr lvl="0" indent="0" marL="0">
                        <a:buNone/>
                      </a:pPr>
                      <a:r>
                        <a:rPr/>
                        <a:t>GDP 2030</a:t>
                      </a:r>
                    </a:p>
                  </a:txBody>
                  <a:tcPr/>
                </a:tc>
              </a:tr>
              <a:tr h="0">
                <a:tc>
                  <a:txBody>
                    <a:bodyPr/>
                    <a:lstStyle/>
                    <a:p>
                      <a:pPr lvl="0" indent="0" marL="0">
                        <a:buNone/>
                      </a:pPr>
                      <a:r>
                        <a:rPr/>
                        <a:t>נתניהו 7</a:t>
                      </a:r>
                    </a:p>
                  </a:txBody>
                </a:tc>
                <a:tc>
                  <a:txBody>
                    <a:bodyPr/>
                    <a:lstStyle/>
                    <a:p>
                      <a:pPr lvl="0" indent="0" marL="0">
                        <a:buNone/>
                      </a:pPr>
                      <a:r>
                        <a:rPr/>
                        <a:t>25%</a:t>
                      </a:r>
                    </a:p>
                  </a:txBody>
                </a:tc>
                <a:tc>
                  <a:txBody>
                    <a:bodyPr/>
                    <a:lstStyle/>
                    <a:p>
                      <a:pPr lvl="0" indent="0" marL="0">
                        <a:buNone/>
                      </a:pPr>
                      <a:r>
                        <a:rPr/>
                        <a:t>1-3</a:t>
                      </a:r>
                    </a:p>
                  </a:txBody>
                </a:tc>
                <a:tc>
                  <a:txBody>
                    <a:bodyPr/>
                    <a:lstStyle/>
                    <a:p>
                      <a:pPr lvl="0" indent="0" marL="0">
                        <a:buNone/>
                      </a:pPr>
                      <a:r>
                        <a:rPr/>
                        <a:t>₪1.85T (-15%)</a:t>
                      </a:r>
                    </a:p>
                  </a:txBody>
                </a:tc>
              </a:tr>
              <a:tr h="0">
                <a:tc>
                  <a:txBody>
                    <a:bodyPr/>
                    <a:lstStyle/>
                    <a:p>
                      <a:pPr lvl="0" indent="0" marL="0">
                        <a:buNone/>
                      </a:pPr>
                      <a:r>
                        <a:rPr b="1"/>
                        <a:t>קואליציה מרכז</a:t>
                      </a:r>
                    </a:p>
                  </a:txBody>
                </a:tc>
                <a:tc>
                  <a:txBody>
                    <a:bodyPr/>
                    <a:lstStyle/>
                    <a:p>
                      <a:pPr lvl="0" indent="0" marL="0">
                        <a:buNone/>
                      </a:pPr>
                      <a:r>
                        <a:rPr b="1"/>
                        <a:t>35%</a:t>
                      </a:r>
                    </a:p>
                  </a:txBody>
                </a:tc>
                <a:tc>
                  <a:txBody>
                    <a:bodyPr/>
                    <a:lstStyle/>
                    <a:p>
                      <a:pPr lvl="0" indent="0" marL="0">
                        <a:buNone/>
                      </a:pPr>
                      <a:r>
                        <a:rPr b="1"/>
                        <a:t>8-12</a:t>
                      </a:r>
                    </a:p>
                  </a:txBody>
                </a:tc>
                <a:tc>
                  <a:txBody>
                    <a:bodyPr/>
                    <a:lstStyle/>
                    <a:p>
                      <a:pPr lvl="0" indent="0" marL="0">
                        <a:buNone/>
                      </a:pPr>
                      <a:r>
                        <a:rPr b="1"/>
                        <a:t>₪2.60T (+18%)</a:t>
                      </a:r>
                    </a:p>
                  </a:txBody>
                </a:tc>
              </a:tr>
              <a:tr h="0">
                <a:tc>
                  <a:txBody>
                    <a:bodyPr/>
                    <a:lstStyle/>
                    <a:p>
                      <a:pPr lvl="0" indent="0" marL="0">
                        <a:buNone/>
                      </a:pPr>
                      <a:r>
                        <a:rPr/>
                        <a:t>אחדות רחבה</a:t>
                      </a:r>
                    </a:p>
                  </a:txBody>
                </a:tc>
                <a:tc>
                  <a:txBody>
                    <a:bodyPr/>
                    <a:lstStyle/>
                    <a:p>
                      <a:pPr lvl="0" indent="0" marL="0">
                        <a:buNone/>
                      </a:pPr>
                      <a:r>
                        <a:rPr/>
                        <a:t>20%</a:t>
                      </a:r>
                    </a:p>
                  </a:txBody>
                </a:tc>
                <a:tc>
                  <a:txBody>
                    <a:bodyPr/>
                    <a:lstStyle/>
                    <a:p>
                      <a:pPr lvl="0" indent="0" marL="0">
                        <a:buNone/>
                      </a:pPr>
                      <a:r>
                        <a:rPr/>
                        <a:t>10-15</a:t>
                      </a:r>
                    </a:p>
                  </a:txBody>
                </a:tc>
                <a:tc>
                  <a:txBody>
                    <a:bodyPr/>
                    <a:lstStyle/>
                    <a:p>
                      <a:pPr lvl="0" indent="0" marL="0">
                        <a:buNone/>
                      </a:pPr>
                      <a:r>
                        <a:rPr/>
                        <a:t>₪2.75T (+25%)</a:t>
                      </a:r>
                    </a:p>
                  </a:txBody>
                </a:tc>
              </a:tr>
              <a:tr h="0">
                <a:tc>
                  <a:txBody>
                    <a:bodyPr/>
                    <a:lstStyle/>
                    <a:p>
                      <a:pPr lvl="0" indent="0" marL="0">
                        <a:buNone/>
                      </a:pPr>
                      <a:r>
                        <a:rPr/>
                        <a:t>דור Z מצביע 70%+</a:t>
                      </a:r>
                    </a:p>
                  </a:txBody>
                </a:tc>
                <a:tc>
                  <a:txBody>
                    <a:bodyPr/>
                    <a:lstStyle/>
                    <a:p>
                      <a:pPr lvl="0" indent="0" marL="0">
                        <a:buNone/>
                      </a:pPr>
                      <a:r>
                        <a:rPr/>
                        <a:t>10%</a:t>
                      </a:r>
                    </a:p>
                  </a:txBody>
                </a:tc>
                <a:tc>
                  <a:txBody>
                    <a:bodyPr/>
                    <a:lstStyle/>
                    <a:p>
                      <a:pPr lvl="0" indent="0" marL="0">
                        <a:buNone/>
                      </a:pPr>
                      <a:r>
                        <a:rPr/>
                        <a:t>12-18</a:t>
                      </a:r>
                    </a:p>
                  </a:txBody>
                </a:tc>
                <a:tc>
                  <a:txBody>
                    <a:bodyPr/>
                    <a:lstStyle/>
                    <a:p>
                      <a:pPr lvl="0" indent="0" marL="0">
                        <a:buNone/>
                      </a:pPr>
                      <a:r>
                        <a:rPr/>
                        <a:t>₪2.90T (+32%)</a:t>
                      </a:r>
                    </a:p>
                  </a:txBody>
                </a:tc>
              </a:tr>
              <a:tr h="0">
                <a:tc>
                  <a:txBody>
                    <a:bodyPr/>
                    <a:lstStyle/>
                    <a:p>
                      <a:pPr lvl="0" indent="0" marL="0">
                        <a:buNone/>
                      </a:pPr>
                      <a:r>
                        <a:rPr/>
                        <a:t>דתית צרה</a:t>
                      </a:r>
                    </a:p>
                  </a:txBody>
                </a:tc>
                <a:tc>
                  <a:txBody>
                    <a:bodyPr/>
                    <a:lstStyle/>
                    <a:p>
                      <a:pPr lvl="0" indent="0" marL="0">
                        <a:buNone/>
                      </a:pPr>
                      <a:r>
                        <a:rPr/>
                        <a:t>5%</a:t>
                      </a:r>
                    </a:p>
                  </a:txBody>
                </a:tc>
                <a:tc>
                  <a:txBody>
                    <a:bodyPr/>
                    <a:lstStyle/>
                    <a:p>
                      <a:pPr lvl="0" indent="0" marL="0">
                        <a:buNone/>
                      </a:pPr>
                      <a:r>
                        <a:rPr/>
                        <a:t>2-4</a:t>
                      </a:r>
                    </a:p>
                  </a:txBody>
                </a:tc>
                <a:tc>
                  <a:txBody>
                    <a:bodyPr/>
                    <a:lstStyle/>
                    <a:p>
                      <a:pPr lvl="0" indent="0" marL="0">
                        <a:buNone/>
                      </a:pPr>
                      <a:r>
                        <a:rPr/>
                        <a:t>₪1.80T (-18%)</a:t>
                      </a:r>
                    </a:p>
                  </a:txBody>
                </a:tc>
              </a:tr>
              <a:tr h="0">
                <a:tc>
                  <a:txBody>
                    <a:bodyPr/>
                    <a:lstStyle/>
                    <a:p>
                      <a:pPr lvl="0" indent="0" marL="0">
                        <a:buNone/>
                      </a:pPr>
                      <a:r>
                        <a:rPr/>
                        <a:t>מלחמה חדשה</a:t>
                      </a:r>
                    </a:p>
                  </a:txBody>
                </a:tc>
                <a:tc>
                  <a:txBody>
                    <a:bodyPr/>
                    <a:lstStyle/>
                    <a:p>
                      <a:pPr lvl="0" indent="0" marL="0">
                        <a:buNone/>
                      </a:pPr>
                      <a:r>
                        <a:rPr/>
                        <a:t>5%</a:t>
                      </a:r>
                    </a:p>
                  </a:txBody>
                </a:tc>
                <a:tc>
                  <a:txBody>
                    <a:bodyPr/>
                    <a:lstStyle/>
                    <a:p>
                      <a:pPr lvl="0" indent="0" marL="0">
                        <a:buNone/>
                      </a:pPr>
                      <a:r>
                        <a:rPr/>
                        <a:t>0.5-2</a:t>
                      </a:r>
                    </a:p>
                  </a:txBody>
                </a:tc>
                <a:tc>
                  <a:txBody>
                    <a:bodyPr/>
                    <a:lstStyle/>
                    <a:p>
                      <a:pPr lvl="0" indent="0" marL="0">
                        <a:buNone/>
                      </a:pPr>
                      <a:r>
                        <a:rPr/>
                        <a:t>₪1.65T (-25%)</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10: 5 תוכניות פעולה</a:t>
            </a:r>
          </a:p>
        </p:txBody>
      </p:sp>
      <p:sp>
        <p:nvSpPr>
          <p:cNvPr id="3" name="Content Placeholder 2"/>
          <p:cNvSpPr>
            <a:spLocks noGrp="1"/>
          </p:cNvSpPr>
          <p:nvPr>
            <p:ph idx="1"/>
          </p:nvPr>
        </p:nvSpPr>
        <p:spPr/>
        <p:txBody>
          <a:bodyPr/>
          <a:lstStyle/>
          <a:p>
            <a:pPr lvl="0" indent="0" marL="0">
              <a:spcBef>
                <a:spcPts val="3000"/>
              </a:spcBef>
              <a:buNone/>
            </a:pPr>
            <a:r>
              <a:rPr b="1"/>
              <a:t>10.1 תוכנית ממשלה (100 ימים + 2 שנים)</a:t>
            </a:r>
          </a:p>
          <a:p>
            <a:pPr lvl="0" indent="0" marL="0">
              <a:buNone/>
            </a:pPr>
            <a:r>
              <a:rPr b="1"/>
              <a:t>יום 1-7</a:t>
            </a:r>
            <a:r>
              <a:rPr/>
              <a:t>: הקפאת הפיכה, יועמ”ש עצמאי, מפכ”ל חדש </a:t>
            </a:r>
            <a:r>
              <a:rPr b="1"/>
              <a:t>חודש 1</a:t>
            </a:r>
            <a:r>
              <a:rPr/>
              <a:t>: פיטור שרים סקטוריאליים, ועדת 7/10 </a:t>
            </a:r>
            <a:r>
              <a:rPr b="1"/>
              <a:t>חודש 2-3</a:t>
            </a:r>
            <a:r>
              <a:rPr/>
              <a:t>: רפורמת שופטים, פיוס </a:t>
            </a:r>
            <a:r>
              <a:rPr b="1"/>
              <a:t>שנה 1-2</a:t>
            </a:r>
            <a:r>
              <a:rPr/>
              <a:t>: 10 רפורמות (משטרה, חינוך, בריאות, פנסיות, רשויות, ועוד)</a:t>
            </a:r>
          </a:p>
          <a:p>
            <a:pPr lvl="0" indent="0" marL="0">
              <a:buNone/>
            </a:pPr>
            <a:r>
              <a:rPr b="1"/>
              <a:t>יעד</a:t>
            </a:r>
            <a:r>
              <a:rPr/>
              <a:t>: F ישראל 0.6 → </a:t>
            </a:r>
            <a:r>
              <a:rPr b="1"/>
              <a:t>22</a:t>
            </a:r>
            <a:r>
              <a:rPr/>
              <a:t> (×36)</a:t>
            </a:r>
          </a:p>
          <a:p>
            <a:pPr lvl="0" indent="0" marL="0">
              <a:spcBef>
                <a:spcPts val="3000"/>
              </a:spcBef>
              <a:buNone/>
            </a:pPr>
            <a:r>
              <a:rPr b="1"/>
              <a:t>10.2 חוקה כתובה — 36 סעיפים, 8 פרקים</a:t>
            </a:r>
          </a:p>
          <a:p>
            <a:pPr lvl="0" indent="-342900" marL="342900">
              <a:buAutoNum type="arabicPeriod"/>
            </a:pPr>
            <a:r>
              <a:rPr/>
              <a:t>זכויות אדם (10 סעיפים)</a:t>
            </a:r>
          </a:p>
          <a:p>
            <a:pPr lvl="0" indent="-342900" marL="342900">
              <a:buAutoNum type="arabicPeriod"/>
            </a:pPr>
            <a:r>
              <a:rPr/>
              <a:t>מבנה שלטון (הגבלת רה”מ 2 קדנציות)</a:t>
            </a:r>
          </a:p>
          <a:p>
            <a:pPr lvl="0" indent="-342900" marL="342900">
              <a:buAutoNum type="arabicPeriod"/>
            </a:pPr>
            <a:r>
              <a:rPr/>
              <a:t>הפרדת רשויות</a:t>
            </a:r>
          </a:p>
          <a:p>
            <a:pPr lvl="0" indent="-342900" marL="342900">
              <a:buAutoNum type="arabicPeriod"/>
            </a:pPr>
            <a:r>
              <a:rPr/>
              <a:t>מערכות עצמאיות</a:t>
            </a:r>
          </a:p>
          <a:p>
            <a:pPr lvl="0" indent="-342900" marL="342900">
              <a:buAutoNum type="arabicPeriod"/>
            </a:pPr>
            <a:r>
              <a:rPr/>
              <a:t>שוויון מגזרי</a:t>
            </a:r>
          </a:p>
          <a:p>
            <a:pPr lvl="0" indent="-342900" marL="342900">
              <a:buAutoNum type="arabicPeriod"/>
            </a:pPr>
            <a:r>
              <a:rPr/>
              <a:t>פיננסים (חוב מקס 60% GDP)</a:t>
            </a:r>
          </a:p>
          <a:p>
            <a:pPr lvl="0" indent="-342900" marL="342900">
              <a:buAutoNum type="arabicPeriod"/>
            </a:pPr>
            <a:r>
              <a:rPr/>
              <a:t>שלום וביטחון</a:t>
            </a:r>
          </a:p>
          <a:p>
            <a:pPr lvl="0" indent="-342900" marL="342900">
              <a:buAutoNum type="arabicPeriod"/>
            </a:pPr>
            <a:r>
              <a:rPr/>
              <a:t>פעולת אזרחים</a:t>
            </a:r>
          </a:p>
          <a:p>
            <a:pPr lvl="0" indent="0" marL="0">
              <a:spcBef>
                <a:spcPts val="3000"/>
              </a:spcBef>
              <a:buNone/>
            </a:pPr>
            <a:r>
              <a:rPr b="1"/>
              <a:t>10.3 “היום שאחרי” לפלסטינים</a:t>
            </a:r>
          </a:p>
          <a:p>
            <a:pPr lvl="0" indent="0" marL="0">
              <a:buNone/>
            </a:pPr>
            <a:r>
              <a:rPr b="1"/>
              <a:t>פדרציה פלסטינית 10 שנים</a:t>
            </a:r>
            <a:r>
              <a:rPr/>
              <a:t>: - הכרה הדדית - $100B “תוכנית מרשל” - פלסטין F: 0.3 → 14 (×47!)</a:t>
            </a:r>
          </a:p>
          <a:p>
            <a:pPr lvl="0" indent="0" marL="0">
              <a:spcBef>
                <a:spcPts val="3000"/>
              </a:spcBef>
              <a:buNone/>
            </a:pPr>
            <a:r>
              <a:rPr b="1"/>
              <a:t>10.4 חינוך הדור הבא</a:t>
            </a:r>
          </a:p>
          <a:p>
            <a:pPr lvl="0"/>
            <a:r>
              <a:rPr/>
              <a:t>100% ליבה לכל (כולל חרדים!)</a:t>
            </a:r>
          </a:p>
          <a:p>
            <a:pPr lvl="0"/>
            <a:r>
              <a:rPr/>
              <a:t>שכר מורה: ₪14K → ₪25K</a:t>
            </a:r>
          </a:p>
          <a:p>
            <a:pPr lvl="0"/>
            <a:r>
              <a:rPr/>
              <a:t>פיזה 2030: 465 → 550</a:t>
            </a:r>
          </a:p>
          <a:p>
            <a:pPr lvl="0" indent="0" marL="0">
              <a:spcBef>
                <a:spcPts val="3000"/>
              </a:spcBef>
              <a:buNone/>
            </a:pPr>
            <a:r>
              <a:rPr b="1"/>
              <a:t>10.5 מסמך לאזרח</a:t>
            </a:r>
          </a:p>
          <a:p>
            <a:pPr lvl="0" indent="0" marL="0">
              <a:buNone/>
            </a:pPr>
            <a:r>
              <a:rPr b="1"/>
              <a:t>5 פעולות</a:t>
            </a:r>
            <a:r>
              <a:rPr/>
              <a:t>: 1. להצביע ב-2027 2. להשתתף פוליטית 3. לא לעזוב 4. לחנך ילדים 5. להצטייד מידע</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11: מסלול שיקום אזורי (2027-2040)</a:t>
            </a:r>
          </a:p>
        </p:txBody>
      </p:sp>
      <p:sp>
        <p:nvSpPr>
          <p:cNvPr id="4" name="Text Placeholder 3"/>
          <p:cNvSpPr>
            <a:spLocks noGrp="1"/>
          </p:cNvSpPr>
          <p:nvPr>
            <p:ph idx="2" sz="half" type="body"/>
          </p:nvPr>
        </p:nvSpPr>
        <p:spPr/>
        <p:txBody>
          <a:bodyPr/>
          <a:lstStyle/>
          <a:p>
            <a:pPr lvl="0" indent="0" marL="0">
              <a:spcBef>
                <a:spcPts val="3000"/>
              </a:spcBef>
              <a:buNone/>
            </a:pPr>
            <a:r>
              <a:rPr b="1"/>
              <a:t>11.1 4 שלבים × 13 שנה</a:t>
            </a:r>
          </a:p>
          <a:p>
            <a:pPr lvl="0" indent="0" marL="0">
              <a:buNone/>
            </a:pPr>
            <a:r>
              <a:rPr b="1"/>
              <a:t>שלב 1 (2027-2029)</a:t>
            </a:r>
            <a:r>
              <a:rPr/>
              <a:t>: ייצוב ישראל + הסכם סעודי </a:t>
            </a:r>
            <a:r>
              <a:rPr b="1"/>
              <a:t>שלב 2 (2029-2032)</a:t>
            </a:r>
            <a:r>
              <a:rPr/>
              <a:t>: שיקום פלסטין ($100B) </a:t>
            </a:r>
            <a:r>
              <a:rPr b="1"/>
              <a:t>שלב 3 (2032-2036)</a:t>
            </a:r>
            <a:r>
              <a:rPr/>
              <a:t>: אינטגרציה אזורית </a:t>
            </a:r>
            <a:r>
              <a:rPr b="1"/>
              <a:t>שלב 4 (2036-2040)</a:t>
            </a:r>
            <a:r>
              <a:rPr/>
              <a:t>: “המזרח התיכון החדש”</a:t>
            </a:r>
          </a:p>
          <a:p>
            <a:pPr lvl="0" indent="0" marL="0">
              <a:spcBef>
                <a:spcPts val="3000"/>
              </a:spcBef>
              <a:buNone/>
            </a:pPr>
            <a:r>
              <a:rPr b="1"/>
              <a:t>11.2 היעד 2040</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מדד</a:t>
                      </a:r>
                    </a:p>
                  </a:txBody>
                  <a:tcPr/>
                </a:tc>
                <a:tc>
                  <a:txBody>
                    <a:bodyPr/>
                    <a:lstStyle/>
                    <a:p>
                      <a:pPr lvl="0" indent="0" marL="0">
                        <a:buNone/>
                      </a:pPr>
                      <a:r>
                        <a:rPr/>
                        <a:t>2026</a:t>
                      </a:r>
                    </a:p>
                  </a:txBody>
                  <a:tcPr/>
                </a:tc>
                <a:tc>
                  <a:txBody>
                    <a:bodyPr/>
                    <a:lstStyle/>
                    <a:p>
                      <a:pPr lvl="0" indent="0" marL="0">
                        <a:buNone/>
                      </a:pPr>
                      <a:r>
                        <a:rPr/>
                        <a:t>2040</a:t>
                      </a:r>
                    </a:p>
                  </a:txBody>
                  <a:tcPr/>
                </a:tc>
              </a:tr>
              <a:tr h="0">
                <a:tc>
                  <a:txBody>
                    <a:bodyPr/>
                    <a:lstStyle/>
                    <a:p>
                      <a:pPr lvl="0" indent="0" marL="0">
                        <a:buNone/>
                      </a:pPr>
                      <a:r>
                        <a:rPr/>
                        <a:t>F ישראל</a:t>
                      </a:r>
                    </a:p>
                  </a:txBody>
                </a:tc>
                <a:tc>
                  <a:txBody>
                    <a:bodyPr/>
                    <a:lstStyle/>
                    <a:p>
                      <a:pPr lvl="0" indent="0" marL="0">
                        <a:buNone/>
                      </a:pPr>
                      <a:r>
                        <a:rPr/>
                        <a:t>5.5</a:t>
                      </a:r>
                    </a:p>
                  </a:txBody>
                </a:tc>
                <a:tc>
                  <a:txBody>
                    <a:bodyPr/>
                    <a:lstStyle/>
                    <a:p>
                      <a:pPr lvl="0" indent="0" marL="0">
                        <a:buNone/>
                      </a:pPr>
                      <a:r>
                        <a:rPr b="1"/>
                        <a:t>20</a:t>
                      </a:r>
                    </a:p>
                  </a:txBody>
                </a:tc>
              </a:tr>
              <a:tr h="0">
                <a:tc>
                  <a:txBody>
                    <a:bodyPr/>
                    <a:lstStyle/>
                    <a:p>
                      <a:pPr lvl="0" indent="0" marL="0">
                        <a:buNone/>
                      </a:pPr>
                      <a:r>
                        <a:rPr/>
                        <a:t>F פלסטין</a:t>
                      </a:r>
                    </a:p>
                  </a:txBody>
                </a:tc>
                <a:tc>
                  <a:txBody>
                    <a:bodyPr/>
                    <a:lstStyle/>
                    <a:p>
                      <a:pPr lvl="0" indent="0" marL="0">
                        <a:buNone/>
                      </a:pPr>
                      <a:r>
                        <a:rPr/>
                        <a:t>0.3</a:t>
                      </a:r>
                    </a:p>
                  </a:txBody>
                </a:tc>
                <a:tc>
                  <a:txBody>
                    <a:bodyPr/>
                    <a:lstStyle/>
                    <a:p>
                      <a:pPr lvl="0" indent="0" marL="0">
                        <a:buNone/>
                      </a:pPr>
                      <a:r>
                        <a:rPr b="1"/>
                        <a:t>14</a:t>
                      </a:r>
                    </a:p>
                  </a:txBody>
                </a:tc>
              </a:tr>
              <a:tr h="0">
                <a:tc>
                  <a:txBody>
                    <a:bodyPr/>
                    <a:lstStyle/>
                    <a:p>
                      <a:pPr lvl="0" indent="0" marL="0">
                        <a:buNone/>
                      </a:pPr>
                      <a:r>
                        <a:rPr/>
                        <a:t>F סעודיה</a:t>
                      </a:r>
                    </a:p>
                  </a:txBody>
                </a:tc>
                <a:tc>
                  <a:txBody>
                    <a:bodyPr/>
                    <a:lstStyle/>
                    <a:p>
                      <a:pPr lvl="0" indent="0" marL="0">
                        <a:buNone/>
                      </a:pPr>
                      <a:r>
                        <a:rPr/>
                        <a:t>14</a:t>
                      </a:r>
                    </a:p>
                  </a:txBody>
                </a:tc>
                <a:tc>
                  <a:txBody>
                    <a:bodyPr/>
                    <a:lstStyle/>
                    <a:p>
                      <a:pPr lvl="0" indent="0" marL="0">
                        <a:buNone/>
                      </a:pPr>
                      <a:r>
                        <a:rPr/>
                        <a:t>22</a:t>
                      </a:r>
                    </a:p>
                  </a:txBody>
                </a:tc>
              </a:tr>
              <a:tr h="0">
                <a:tc>
                  <a:txBody>
                    <a:bodyPr/>
                    <a:lstStyle/>
                    <a:p>
                      <a:pPr lvl="0" indent="0" marL="0">
                        <a:buNone/>
                      </a:pPr>
                      <a:r>
                        <a:rPr/>
                        <a:t>F ירדן</a:t>
                      </a:r>
                    </a:p>
                  </a:txBody>
                </a:tc>
                <a:tc>
                  <a:txBody>
                    <a:bodyPr/>
                    <a:lstStyle/>
                    <a:p>
                      <a:pPr lvl="0" indent="0" marL="0">
                        <a:buNone/>
                      </a:pPr>
                      <a:r>
                        <a:rPr/>
                        <a:t>5</a:t>
                      </a:r>
                    </a:p>
                  </a:txBody>
                </a:tc>
                <a:tc>
                  <a:txBody>
                    <a:bodyPr/>
                    <a:lstStyle/>
                    <a:p>
                      <a:pPr lvl="0" indent="0" marL="0">
                        <a:buNone/>
                      </a:pPr>
                      <a:r>
                        <a:rPr/>
                        <a:t>15</a:t>
                      </a:r>
                    </a:p>
                  </a:txBody>
                </a:tc>
              </a:tr>
              <a:tr h="0">
                <a:tc>
                  <a:txBody>
                    <a:bodyPr/>
                    <a:lstStyle/>
                    <a:p>
                      <a:pPr lvl="0" indent="0" marL="0">
                        <a:buNone/>
                      </a:pPr>
                      <a:r>
                        <a:rPr/>
                        <a:t>F מצרים</a:t>
                      </a:r>
                    </a:p>
                  </a:txBody>
                </a:tc>
                <a:tc>
                  <a:txBody>
                    <a:bodyPr/>
                    <a:lstStyle/>
                    <a:p>
                      <a:pPr lvl="0" indent="0" marL="0">
                        <a:buNone/>
                      </a:pPr>
                      <a:r>
                        <a:rPr/>
                        <a:t>3.6</a:t>
                      </a:r>
                    </a:p>
                  </a:txBody>
                </a:tc>
                <a:tc>
                  <a:txBody>
                    <a:bodyPr/>
                    <a:lstStyle/>
                    <a:p>
                      <a:pPr lvl="0" indent="0" marL="0">
                        <a:buNone/>
                      </a:pPr>
                      <a:r>
                        <a:rPr/>
                        <a:t>12</a:t>
                      </a:r>
                    </a:p>
                  </a:txBody>
                </a:tc>
              </a:tr>
              <a:tr h="0">
                <a:tc>
                  <a:txBody>
                    <a:bodyPr/>
                    <a:lstStyle/>
                    <a:p>
                      <a:pPr lvl="0" indent="0" marL="0">
                        <a:buNone/>
                      </a:pPr>
                      <a:r>
                        <a:rPr/>
                        <a:t>F אזורי</a:t>
                      </a:r>
                    </a:p>
                  </a:txBody>
                </a:tc>
                <a:tc>
                  <a:txBody>
                    <a:bodyPr/>
                    <a:lstStyle/>
                    <a:p>
                      <a:pPr lvl="0" indent="0" marL="0">
                        <a:buNone/>
                      </a:pPr>
                      <a:r>
                        <a:rPr/>
                        <a:t>3.8</a:t>
                      </a:r>
                    </a:p>
                  </a:txBody>
                </a:tc>
                <a:tc>
                  <a:txBody>
                    <a:bodyPr/>
                    <a:lstStyle/>
                    <a:p>
                      <a:pPr lvl="0" indent="0" marL="0">
                        <a:buNone/>
                      </a:pPr>
                      <a:r>
                        <a:rPr b="1"/>
                        <a:t>15</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11.3 ROI</a:t>
            </a:r>
          </a:p>
          <a:p>
            <a:pPr lvl="0"/>
            <a:r>
              <a:rPr b="1"/>
              <a:t>השקעה</a:t>
            </a:r>
            <a:r>
              <a:rPr/>
              <a:t>: $330B על 14 שנה</a:t>
            </a:r>
          </a:p>
          <a:p>
            <a:pPr lvl="0"/>
            <a:r>
              <a:rPr b="1"/>
              <a:t>תועלת</a:t>
            </a:r>
            <a:r>
              <a:rPr/>
              <a:t>: $2.5T (GDP מצטבר)</a:t>
            </a:r>
          </a:p>
          <a:p>
            <a:pPr lvl="0"/>
            <a:r>
              <a:rPr b="1"/>
              <a:t>ROI</a:t>
            </a:r>
            <a:r>
              <a:rPr/>
              <a:t>: </a:t>
            </a:r>
            <a:r>
              <a:rPr b="1"/>
              <a:t>×7.5</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פרק 12: ההודעה הפרקטלית הסופית</a:t>
            </a:r>
          </a:p>
        </p:txBody>
      </p:sp>
      <p:sp>
        <p:nvSpPr>
          <p:cNvPr id="4" name="Text Placeholder 3"/>
          <p:cNvSpPr>
            <a:spLocks noGrp="1"/>
          </p:cNvSpPr>
          <p:nvPr>
            <p:ph idx="2" sz="half" type="body"/>
          </p:nvPr>
        </p:nvSpPr>
        <p:spPr/>
        <p:txBody>
          <a:bodyPr/>
          <a:lstStyle/>
          <a:p>
            <a:pPr lvl="0" indent="0" marL="0">
              <a:spcBef>
                <a:spcPts val="3000"/>
              </a:spcBef>
              <a:buNone/>
            </a:pPr>
            <a:r>
              <a:rPr b="1"/>
              <a:t>12.1 “ישראל בשני מספרים”</a:t>
            </a:r>
          </a:p>
          <a:p>
            <a:pPr lvl="0" indent="0" marL="0">
              <a:buNone/>
            </a:pPr>
            <a:r>
              <a:rPr b="1"/>
              <a:t>בן-גוריון (1948)</a:t>
            </a:r>
            <a:r>
              <a:rPr/>
              <a:t>: F=100, PEP=95%, CBE=82%, I=9.0, P=91% </a:t>
            </a:r>
            <a:r>
              <a:rPr b="1"/>
              <a:t>נתניהו 6 (2026)</a:t>
            </a:r>
            <a:r>
              <a:rPr/>
              <a:t>: F=0.6, PEP=15%, CBE=23%, I=5.7, P=18%</a:t>
            </a:r>
          </a:p>
          <a:p>
            <a:pPr lvl="0" indent="0" marL="0">
              <a:buNone/>
            </a:pPr>
            <a:r>
              <a:rPr b="1"/>
              <a:t>ההפרש</a:t>
            </a:r>
            <a:r>
              <a:rPr/>
              <a:t>: F ירד פי </a:t>
            </a:r>
            <a:r>
              <a:rPr b="1"/>
              <a:t>170</a:t>
            </a:r>
            <a:r>
              <a:rPr/>
              <a:t> ב-78 שנה.</a:t>
            </a:r>
          </a:p>
          <a:p>
            <a:pPr lvl="0" indent="0" marL="0">
              <a:spcBef>
                <a:spcPts val="3000"/>
              </a:spcBef>
              <a:buNone/>
            </a:pPr>
            <a:r>
              <a:rPr b="1"/>
              <a:t>12.2 “ישראל בשני תרחישים”</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אם נתניהו ממשיך</a:t>
                      </a:r>
                    </a:p>
                  </a:txBody>
                  <a:tcPr/>
                </a:tc>
                <a:tc>
                  <a:txBody>
                    <a:bodyPr/>
                    <a:lstStyle/>
                    <a:p>
                      <a:pPr lvl="0" indent="0" marL="0">
                        <a:buNone/>
                      </a:pPr>
                      <a:r>
                        <a:rPr/>
                        <a:t>אם ממשלה חדשה</a:t>
                      </a:r>
                    </a:p>
                  </a:txBody>
                  <a:tcPr/>
                </a:tc>
              </a:tr>
              <a:tr h="0">
                <a:tc>
                  <a:txBody>
                    <a:bodyPr/>
                    <a:lstStyle/>
                    <a:p>
                      <a:pPr lvl="0" indent="0" marL="0">
                        <a:buNone/>
                      </a:pPr>
                      <a:r>
                        <a:rPr/>
                        <a:t>F 2030</a:t>
                      </a:r>
                    </a:p>
                  </a:txBody>
                </a:tc>
                <a:tc>
                  <a:txBody>
                    <a:bodyPr/>
                    <a:lstStyle/>
                    <a:p>
                      <a:pPr lvl="0" indent="0" marL="0">
                        <a:buNone/>
                      </a:pPr>
                      <a:r>
                        <a:rPr/>
                        <a:t>0.3</a:t>
                      </a:r>
                    </a:p>
                  </a:txBody>
                </a:tc>
                <a:tc>
                  <a:txBody>
                    <a:bodyPr/>
                    <a:lstStyle/>
                    <a:p>
                      <a:pPr lvl="0" indent="0" marL="0">
                        <a:buNone/>
                      </a:pPr>
                      <a:r>
                        <a:rPr b="1"/>
                        <a:t>15</a:t>
                      </a:r>
                    </a:p>
                  </a:txBody>
                </a:tc>
              </a:tr>
              <a:tr h="0">
                <a:tc>
                  <a:txBody>
                    <a:bodyPr/>
                    <a:lstStyle/>
                    <a:p>
                      <a:pPr lvl="0" indent="0" marL="0">
                        <a:buNone/>
                      </a:pPr>
                      <a:r>
                        <a:rPr/>
                        <a:t>GDP 2030</a:t>
                      </a:r>
                    </a:p>
                  </a:txBody>
                </a:tc>
                <a:tc>
                  <a:txBody>
                    <a:bodyPr/>
                    <a:lstStyle/>
                    <a:p>
                      <a:pPr lvl="0" indent="0" marL="0">
                        <a:buNone/>
                      </a:pPr>
                      <a:r>
                        <a:rPr/>
                        <a:t>₪1.5T</a:t>
                      </a:r>
                    </a:p>
                  </a:txBody>
                </a:tc>
                <a:tc>
                  <a:txBody>
                    <a:bodyPr/>
                    <a:lstStyle/>
                    <a:p>
                      <a:pPr lvl="0" indent="0" marL="0">
                        <a:buNone/>
                      </a:pPr>
                      <a:r>
                        <a:rPr b="1"/>
                        <a:t>₪3.0T</a:t>
                      </a:r>
                    </a:p>
                  </a:txBody>
                </a:tc>
              </a:tr>
              <a:tr h="0">
                <a:tc>
                  <a:txBody>
                    <a:bodyPr/>
                    <a:lstStyle/>
                    <a:p>
                      <a:pPr lvl="0" indent="0" marL="0">
                        <a:buNone/>
                      </a:pPr>
                      <a:r>
                        <a:rPr/>
                        <a:t>אושר (בעולם)</a:t>
                      </a:r>
                    </a:p>
                  </a:txBody>
                </a:tc>
                <a:tc>
                  <a:txBody>
                    <a:bodyPr/>
                    <a:lstStyle/>
                    <a:p>
                      <a:pPr lvl="0" indent="0" marL="0">
                        <a:buNone/>
                      </a:pPr>
                      <a:r>
                        <a:rPr/>
                        <a:t>#65</a:t>
                      </a:r>
                    </a:p>
                  </a:txBody>
                </a:tc>
                <a:tc>
                  <a:txBody>
                    <a:bodyPr/>
                    <a:lstStyle/>
                    <a:p>
                      <a:pPr lvl="0" indent="0" marL="0">
                        <a:buNone/>
                      </a:pPr>
                      <a:r>
                        <a:rPr b="1"/>
                        <a:t>#10</a:t>
                      </a:r>
                    </a:p>
                  </a:txBody>
                </a:tc>
              </a:tr>
              <a:tr h="0">
                <a:tc>
                  <a:txBody>
                    <a:bodyPr/>
                    <a:lstStyle/>
                    <a:p>
                      <a:pPr lvl="0" indent="0" marL="0">
                        <a:buNone/>
                      </a:pPr>
                      <a:r>
                        <a:rPr/>
                        <a:t>דור Z</a:t>
                      </a:r>
                    </a:p>
                  </a:txBody>
                </a:tc>
                <a:tc>
                  <a:txBody>
                    <a:bodyPr/>
                    <a:lstStyle/>
                    <a:p>
                      <a:pPr lvl="0" indent="0" marL="0">
                        <a:buNone/>
                      </a:pPr>
                      <a:r>
                        <a:rPr/>
                        <a:t>60% מהגרים</a:t>
                      </a:r>
                    </a:p>
                  </a:txBody>
                </a:tc>
                <a:tc>
                  <a:txBody>
                    <a:bodyPr/>
                    <a:lstStyle/>
                    <a:p>
                      <a:pPr lvl="0" indent="0" marL="0">
                        <a:buNone/>
                      </a:pPr>
                      <a:r>
                        <a:rPr/>
                        <a:t>15% בלבד</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ההפרש</a:t>
            </a:r>
            <a:r>
              <a:rPr/>
              <a:t>: </a:t>
            </a:r>
            <a:r>
              <a:rPr b="1"/>
              <a:t>₪1.5 טריליון בכיס ישראל + שלום</a:t>
            </a:r>
            <a:r>
              <a:rPr/>
              <a:t>.</a:t>
            </a:r>
          </a:p>
          <a:p>
            <a:pPr lvl="0" indent="0" marL="0">
              <a:spcBef>
                <a:spcPts val="3000"/>
              </a:spcBef>
              <a:buNone/>
            </a:pPr>
            <a:r>
              <a:rPr b="1"/>
              <a:t>12.3 “ההודעה הסופית לאזרח”</a:t>
            </a:r>
          </a:p>
          <a:p>
            <a:pPr lvl="0" indent="0" marL="1270000">
              <a:buNone/>
            </a:pPr>
            <a:r>
              <a:rPr sz="2000" b="1"/>
              <a:t>אתה (האזרח) הוא F=8.5.</a:t>
            </a:r>
            <a:r>
              <a:rPr sz="2000"/>
              <a:t> </a:t>
            </a:r>
            <a:r>
              <a:rPr sz="2000" b="1"/>
              <a:t>הממשלה שלך F=0.6.</a:t>
            </a:r>
            <a:r>
              <a:rPr sz="2000"/>
              <a:t> </a:t>
            </a:r>
            <a:r>
              <a:rPr sz="2000" b="1"/>
              <a:t>אתה פי 14 חזק יותר ממנה.</a:t>
            </a:r>
            <a:r>
              <a:rPr sz="2000"/>
              <a:t> </a:t>
            </a:r>
            <a:r>
              <a:rPr sz="2000" b="1"/>
              <a:t>2027 — הבחירה שלך.</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13: המחקר כולו במבט אחד</a:t>
            </a:r>
          </a:p>
        </p:txBody>
      </p:sp>
      <p:sp>
        <p:nvSpPr>
          <p:cNvPr id="3" name="Content Placeholder 2"/>
          <p:cNvSpPr>
            <a:spLocks noGrp="1"/>
          </p:cNvSpPr>
          <p:nvPr>
            <p:ph idx="1"/>
          </p:nvPr>
        </p:nvSpPr>
        <p:spPr/>
        <p:txBody>
          <a:bodyPr/>
          <a:lstStyle/>
          <a:p>
            <a:pPr lvl="0" indent="0" marL="0">
              <a:spcBef>
                <a:spcPts val="3000"/>
              </a:spcBef>
              <a:buNone/>
            </a:pPr>
            <a:r>
              <a:rPr b="1"/>
              <a:t>13.1 מה היה? (היסטוריה)</a:t>
            </a:r>
          </a:p>
          <a:p>
            <a:pPr lvl="0"/>
            <a:r>
              <a:rPr b="1"/>
              <a:t>1948</a:t>
            </a:r>
            <a:r>
              <a:rPr/>
              <a:t>: ישראל נולדה עם F=100 (אין-תחרות)</a:t>
            </a:r>
          </a:p>
          <a:p>
            <a:pPr lvl="0"/>
            <a:r>
              <a:rPr b="1"/>
              <a:t>1973</a:t>
            </a:r>
            <a:r>
              <a:rPr/>
              <a:t>: יום הכיפורים — טראומה ראשונה</a:t>
            </a:r>
          </a:p>
          <a:p>
            <a:pPr lvl="0"/>
            <a:r>
              <a:rPr b="1"/>
              <a:t>1993</a:t>
            </a:r>
            <a:r>
              <a:rPr/>
              <a:t>: אוסלו — פוטנציאל ששבר ברצח רבין</a:t>
            </a:r>
          </a:p>
          <a:p>
            <a:pPr lvl="0"/>
            <a:r>
              <a:rPr b="1"/>
              <a:t>2005</a:t>
            </a:r>
            <a:r>
              <a:rPr/>
              <a:t>: ההתנתקות — פיזור</a:t>
            </a:r>
          </a:p>
          <a:p>
            <a:pPr lvl="0"/>
            <a:r>
              <a:rPr b="1"/>
              <a:t>2020</a:t>
            </a:r>
            <a:r>
              <a:rPr/>
              <a:t>: הסכמי אברהם — תקוות</a:t>
            </a:r>
          </a:p>
          <a:p>
            <a:pPr lvl="0"/>
            <a:r>
              <a:rPr b="1"/>
              <a:t>2022-26</a:t>
            </a:r>
            <a:r>
              <a:rPr/>
              <a:t>: נתניהו 6 — קטסטרופה</a:t>
            </a:r>
          </a:p>
          <a:p>
            <a:pPr lvl="0" indent="0" marL="0">
              <a:spcBef>
                <a:spcPts val="3000"/>
              </a:spcBef>
              <a:buNone/>
            </a:pPr>
            <a:r>
              <a:rPr b="1"/>
              <a:t>13.2 מה היום? (אבחנה)</a:t>
            </a:r>
          </a:p>
          <a:p>
            <a:pPr lvl="0"/>
            <a:r>
              <a:rPr/>
              <a:t>F ישראל: </a:t>
            </a:r>
            <a:r>
              <a:rPr b="1"/>
              <a:t>0.6-5.5</a:t>
            </a:r>
            <a:r>
              <a:rPr/>
              <a:t> (קריסה בעיצומה)</a:t>
            </a:r>
          </a:p>
          <a:p>
            <a:pPr lvl="0"/>
            <a:r>
              <a:rPr/>
              <a:t>35% מהמוסדות בקריסה</a:t>
            </a:r>
          </a:p>
          <a:p>
            <a:pPr lvl="0"/>
            <a:r>
              <a:rPr/>
              <a:t>65% מהמגזרים בקריסה</a:t>
            </a:r>
          </a:p>
          <a:p>
            <a:pPr lvl="0"/>
            <a:r>
              <a:rPr/>
              <a:t>דור Z בקריסה חברתית</a:t>
            </a:r>
          </a:p>
          <a:p>
            <a:pPr lvl="0"/>
            <a:r>
              <a:rPr/>
              <a:t>F אזורי: 3.8 (חלש)</a:t>
            </a:r>
          </a:p>
          <a:p>
            <a:pPr lvl="0" indent="0" marL="0">
              <a:spcBef>
                <a:spcPts val="3000"/>
              </a:spcBef>
              <a:buNone/>
            </a:pPr>
            <a:r>
              <a:rPr b="1"/>
              <a:t>13.3 מה אפשר? (עתיד)</a:t>
            </a:r>
          </a:p>
          <a:p>
            <a:pPr lvl="0"/>
            <a:r>
              <a:rPr b="1"/>
              <a:t>אם 2027 יהיה “שינוי”</a:t>
            </a:r>
            <a:r>
              <a:rPr/>
              <a:t>:</a:t>
            </a:r>
          </a:p>
          <a:p>
            <a:pPr lvl="1"/>
            <a:r>
              <a:rPr/>
              <a:t>F ישראל → 15 (×25)</a:t>
            </a:r>
          </a:p>
          <a:p>
            <a:pPr lvl="1"/>
            <a:r>
              <a:rPr/>
              <a:t>F אזור → 15 (×4)</a:t>
            </a:r>
          </a:p>
          <a:p>
            <a:pPr lvl="1"/>
            <a:r>
              <a:rPr/>
              <a:t>GDP → ₪3T → ₪8T אזורי</a:t>
            </a:r>
          </a:p>
          <a:p>
            <a:pPr lvl="1"/>
            <a:r>
              <a:rPr/>
              <a:t>שלום, דמוקרטיה, חזון</a:t>
            </a:r>
          </a:p>
          <a:p>
            <a:pPr lvl="0"/>
            <a:r>
              <a:rPr b="1"/>
              <a:t>אם 2027 יהיה “המשך”</a:t>
            </a:r>
            <a:r>
              <a:rPr/>
              <a:t>:</a:t>
            </a:r>
          </a:p>
          <a:p>
            <a:pPr lvl="1"/>
            <a:r>
              <a:rPr/>
              <a:t>F ישראל → 0.3</a:t>
            </a:r>
          </a:p>
          <a:p>
            <a:pPr lvl="1"/>
            <a:r>
              <a:rPr/>
              <a:t>F אזור → 2</a:t>
            </a:r>
          </a:p>
          <a:p>
            <a:pPr lvl="1"/>
            <a:r>
              <a:rPr/>
              <a:t>ישראל כ-“הונגריה 2”</a:t>
            </a:r>
          </a:p>
          <a:p>
            <a:pPr lvl="1"/>
            <a:r>
              <a:rPr/>
              <a:t>אובדן $2.5T פוטנציאל</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14: ה”חוכמה הפרקטלית” של ישראל</a:t>
            </a:r>
          </a:p>
        </p:txBody>
      </p:sp>
      <p:sp>
        <p:nvSpPr>
          <p:cNvPr id="3" name="Content Placeholder 2"/>
          <p:cNvSpPr>
            <a:spLocks noGrp="1"/>
          </p:cNvSpPr>
          <p:nvPr>
            <p:ph idx="1"/>
          </p:nvPr>
        </p:nvSpPr>
        <p:spPr/>
        <p:txBody>
          <a:bodyPr/>
          <a:lstStyle/>
          <a:p>
            <a:pPr lvl="0" indent="0" marL="0">
              <a:spcBef>
                <a:spcPts val="3000"/>
              </a:spcBef>
              <a:buNone/>
            </a:pPr>
            <a:r>
              <a:rPr b="1"/>
              <a:t>14.1 התובנות המכליליות (5)</a:t>
            </a:r>
          </a:p>
          <a:p>
            <a:pPr lvl="0" indent="0" marL="0">
              <a:buNone/>
            </a:pPr>
            <a:r>
              <a:rPr b="1"/>
              <a:t>תובנה 1</a:t>
            </a:r>
            <a:r>
              <a:rPr/>
              <a:t>: ישראל איננה “מדינה אחת” — היא </a:t>
            </a:r>
            <a:r>
              <a:rPr b="1"/>
              <a:t>48 יחידות נפרדות</a:t>
            </a:r>
            <a:r>
              <a:rPr/>
              <a:t>.</a:t>
            </a:r>
          </a:p>
          <a:p>
            <a:pPr lvl="0" indent="0" marL="0">
              <a:buNone/>
            </a:pPr>
            <a:r>
              <a:rPr b="1"/>
              <a:t>תובנה 2</a:t>
            </a:r>
            <a:r>
              <a:rPr/>
              <a:t>: הנזק הוא </a:t>
            </a:r>
            <a:r>
              <a:rPr b="1"/>
              <a:t>אקספוננציאלי</a:t>
            </a:r>
            <a:r>
              <a:rPr/>
              <a:t> — כל קדנציה חוזרת של נתניהו הכפילה את הנזק.</a:t>
            </a:r>
          </a:p>
          <a:p>
            <a:pPr lvl="0" indent="0" marL="0">
              <a:buNone/>
            </a:pPr>
            <a:r>
              <a:rPr b="1"/>
              <a:t>תובנה 3</a:t>
            </a:r>
            <a:r>
              <a:rPr/>
              <a:t>: </a:t>
            </a:r>
            <a:r>
              <a:rPr b="1"/>
              <a:t>הפתרון קיים</a:t>
            </a:r>
            <a:r>
              <a:rPr/>
              <a:t> — דרך ממשלה חדשה, חוקה, ועדות עצמאיות.</a:t>
            </a:r>
          </a:p>
          <a:p>
            <a:pPr lvl="0" indent="0" marL="0">
              <a:buNone/>
            </a:pPr>
            <a:r>
              <a:rPr b="1"/>
              <a:t>תובנה 4</a:t>
            </a:r>
            <a:r>
              <a:rPr/>
              <a:t>: </a:t>
            </a:r>
            <a:r>
              <a:rPr b="1"/>
              <a:t>הפרקטלית מגלה את עצמה</a:t>
            </a:r>
            <a:r>
              <a:rPr/>
              <a:t> — אותם דפוסים חוזרים בכל רמה.</a:t>
            </a:r>
          </a:p>
          <a:p>
            <a:pPr lvl="0" indent="0" marL="0">
              <a:buNone/>
            </a:pPr>
            <a:r>
              <a:rPr b="1"/>
              <a:t>תובנה 5</a:t>
            </a:r>
            <a:r>
              <a:rPr/>
              <a:t>: </a:t>
            </a:r>
            <a:r>
              <a:rPr b="1"/>
              <a:t>אזרחי ישראל חזקים מהממשלה פי 14</a:t>
            </a:r>
            <a:r>
              <a:rPr/>
              <a:t> — הגורל בידם.</a:t>
            </a:r>
          </a:p>
          <a:p>
            <a:pPr lvl="0" indent="0" marL="0">
              <a:spcBef>
                <a:spcPts val="3000"/>
              </a:spcBef>
              <a:buNone/>
            </a:pPr>
            <a:r>
              <a:rPr b="1"/>
              <a:t>14.2 הפרקטלית בכל סדר-גודל</a:t>
            </a:r>
          </a:p>
          <a:p>
            <a:pPr lvl="0" indent="0">
              <a:buNone/>
            </a:pPr>
            <a:r>
              <a:rPr>
                <a:latin typeface="Courier"/>
              </a:rPr>
              <a:t>רמה                     F        מצב 2026
אזרח ישראלי              8.5      חזק
חברה פרטית חזקה          9.0      מעולה
צה"ל (לוחם)              7.5      יציב
בי"ד עליון               8.5      יציב
המוסד                    8.0      יציב
מערכות ציבור             4.9      חלשות
אופוזיציה                5.6      סבירה
כנסת 25                  3.5      חלשה
ממשלה 37                 3.3      חלשה
קואליציה                 1.9      קטסטרופה
רה"מ (נתניהו 6)          0.6      קטסטרופה
מדינת ישראל (ממוצע)      5.5      על גבול הקריסה</a:t>
            </a:r>
          </a:p>
          <a:p>
            <a:pPr lvl="0" indent="0" marL="0">
              <a:spcBef>
                <a:spcPts val="3000"/>
              </a:spcBef>
              <a:buNone/>
            </a:pPr>
            <a:r>
              <a:rPr b="1"/>
              <a:t>14.3 “המטא-חוק הפרקטלי”</a:t>
            </a:r>
          </a:p>
          <a:p>
            <a:pPr lvl="0" indent="0" marL="0">
              <a:buNone/>
            </a:pPr>
            <a:r>
              <a:rPr b="1"/>
              <a:t>F של כל רמה = f(עצמאות × שקיפות × מקצועיות × איזון)</a:t>
            </a:r>
          </a:p>
          <a:p>
            <a:pPr lvl="0" indent="0" marL="0">
              <a:buNone/>
            </a:pPr>
            <a:r>
              <a:rPr b="1"/>
              <a:t>חוק אוניברסלי</a:t>
            </a:r>
            <a:r>
              <a:rPr/>
              <a:t>: ככל שהעצמאות גבוהה — F גבוה. - יועמ”שים: 9.0 (הגבוה) - שופטי עליון: 8.7 - נגידי בנק ישראל: 8.7 - שרים: 6.8 (הנמוך)</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15: רשימת כל 32 המסמכים</a:t>
            </a:r>
          </a:p>
        </p:txBody>
      </p:sp>
      <p:sp>
        <p:nvSpPr>
          <p:cNvPr id="3" name="Content Placeholder 2"/>
          <p:cNvSpPr>
            <a:spLocks noGrp="1"/>
          </p:cNvSpPr>
          <p:nvPr>
            <p:ph idx="1"/>
          </p:nvPr>
        </p:nvSpPr>
        <p:spPr/>
        <p:txBody>
          <a:bodyPr/>
          <a:lstStyle/>
          <a:p>
            <a:pPr lvl="0" indent="0" marL="0">
              <a:spcBef>
                <a:spcPts val="3000"/>
              </a:spcBef>
              <a:buNone/>
            </a:pPr>
            <a:r>
              <a:rPr b="1"/>
              <a:t>15.1 Methodology (1)</a:t>
            </a:r>
          </a:p>
          <a:p>
            <a:pPr lvl="0" indent="-342900" marL="342900">
              <a:buAutoNum type="arabicPeriod"/>
            </a:pPr>
            <a:r>
              <a:rPr/>
              <a:t>methodology/README.md</a:t>
            </a:r>
          </a:p>
          <a:p>
            <a:pPr lvl="0" indent="0" marL="0">
              <a:spcBef>
                <a:spcPts val="3000"/>
              </a:spcBef>
              <a:buNone/>
            </a:pPr>
            <a:r>
              <a:rPr b="1"/>
              <a:t>15.2 Indicators (1)</a:t>
            </a:r>
          </a:p>
          <a:p>
            <a:pPr lvl="0" indent="-342900" marL="342900">
              <a:buAutoNum type="arabicPeriod"/>
            </a:pPr>
            <a:r>
              <a:rPr/>
              <a:t>indicators/dashboard.md</a:t>
            </a:r>
          </a:p>
          <a:p>
            <a:pPr lvl="0" indent="0" marL="0">
              <a:spcBef>
                <a:spcPts val="3000"/>
              </a:spcBef>
              <a:buNone/>
            </a:pPr>
            <a:r>
              <a:rPr b="1"/>
              <a:t>15.3 Institutions (23)</a:t>
            </a:r>
          </a:p>
          <a:p>
            <a:pPr lvl="0" indent="-342900" marL="342900">
              <a:buAutoNum type="arabicPeriod"/>
            </a:pPr>
            <a:r>
              <a:rPr/>
              <a:t>army.md</a:t>
            </a:r>
          </a:p>
          <a:p>
            <a:pPr lvl="0" indent="-342900" marL="342900">
              <a:buAutoNum type="arabicPeriod"/>
            </a:pPr>
            <a:r>
              <a:rPr/>
              <a:t>education.md</a:t>
            </a:r>
          </a:p>
          <a:p>
            <a:pPr lvl="0" indent="-342900" marL="342900">
              <a:buAutoNum type="arabicPeriod"/>
            </a:pPr>
            <a:r>
              <a:rPr/>
              <a:t>income-tax.md</a:t>
            </a:r>
          </a:p>
          <a:p>
            <a:pPr lvl="0" indent="-342900" marL="342900">
              <a:buAutoNum type="arabicPeriod"/>
            </a:pPr>
            <a:r>
              <a:rPr/>
              <a:t>knesset-ministers.md</a:t>
            </a:r>
          </a:p>
          <a:p>
            <a:pPr lvl="0" indent="-342900" marL="342900">
              <a:buAutoNum type="arabicPeriod"/>
            </a:pPr>
            <a:r>
              <a:rPr/>
              <a:t>legal-system.md</a:t>
            </a:r>
          </a:p>
          <a:p>
            <a:pPr lvl="0" indent="-342900" marL="342900">
              <a:buAutoNum type="arabicPeriod"/>
            </a:pPr>
            <a:r>
              <a:rPr/>
              <a:t>police.md</a:t>
            </a:r>
          </a:p>
          <a:p>
            <a:pPr lvl="0" indent="-342900" marL="342900">
              <a:buAutoNum type="arabicPeriod"/>
            </a:pPr>
            <a:r>
              <a:rPr/>
              <a:t>prison-system.md</a:t>
            </a:r>
          </a:p>
          <a:p>
            <a:pPr lvl="0" indent="-342900" marL="342900">
              <a:buAutoNum type="arabicPeriod"/>
            </a:pPr>
            <a:r>
              <a:rPr/>
              <a:t>public-companies-media.md</a:t>
            </a:r>
          </a:p>
          <a:p>
            <a:pPr lvl="0" indent="-342900" marL="342900">
              <a:buAutoNum type="arabicPeriod"/>
            </a:pPr>
            <a:r>
              <a:rPr/>
              <a:t>rabbinate-communities.md</a:t>
            </a:r>
          </a:p>
          <a:p>
            <a:pPr lvl="0" indent="-342900" marL="342900">
              <a:buAutoNum type="arabicPeriod"/>
            </a:pPr>
            <a:r>
              <a:rPr/>
              <a:t>religion.md</a:t>
            </a:r>
          </a:p>
          <a:p>
            <a:pPr lvl="0" indent="-342900" marL="342900">
              <a:buAutoNum type="arabicPeriod"/>
            </a:pPr>
            <a:r>
              <a:rPr/>
              <a:t>social-services.md</a:t>
            </a:r>
          </a:p>
          <a:p>
            <a:pPr lvl="0" indent="-342900" marL="342900">
              <a:buAutoNum type="arabicPeriod"/>
            </a:pPr>
            <a:r>
              <a:rPr/>
              <a:t>welfare-national-insurance.md</a:t>
            </a:r>
          </a:p>
          <a:p>
            <a:pPr lvl="0" indent="-342900" marL="342900">
              <a:buAutoNum type="arabicPeriod"/>
            </a:pPr>
            <a:r>
              <a:rPr/>
              <a:t>october7-comprehensive.md</a:t>
            </a:r>
          </a:p>
          <a:p>
            <a:pPr lvl="0" indent="-342900" marL="342900">
              <a:buAutoNum type="arabicPeriod"/>
            </a:pPr>
            <a:r>
              <a:rPr/>
              <a:t>october7-appendices.md</a:t>
            </a:r>
          </a:p>
          <a:p>
            <a:pPr lvl="0" indent="-342900" marL="342900">
              <a:buAutoNum type="arabicPeriod"/>
            </a:pPr>
            <a:r>
              <a:rPr/>
              <a:t>knesset-members-performance.md</a:t>
            </a:r>
          </a:p>
          <a:p>
            <a:pPr lvl="0" indent="-342900" marL="342900">
              <a:buAutoNum type="arabicPeriod"/>
            </a:pPr>
            <a:r>
              <a:rPr/>
              <a:t>sectors-and-communities-hp-tora.md</a:t>
            </a:r>
          </a:p>
          <a:p>
            <a:pPr lvl="0" indent="-342900" marL="342900">
              <a:buAutoNum type="arabicPeriod"/>
            </a:pPr>
            <a:r>
              <a:rPr/>
              <a:t>law-enforcement-courts-military-comprehensive.md</a:t>
            </a:r>
          </a:p>
          <a:p>
            <a:pPr lvl="0" indent="-342900" marL="342900">
              <a:buAutoNum type="arabicPeriod"/>
            </a:pPr>
            <a:r>
              <a:rPr/>
              <a:t>historical-law-security-and-government-companies.md</a:t>
            </a:r>
          </a:p>
          <a:p>
            <a:pPr lvl="0" indent="-342900" marL="342900">
              <a:buAutoNum type="arabicPeriod"/>
            </a:pPr>
            <a:r>
              <a:rPr/>
              <a:t>all-mks-ministers-complete-history.md</a:t>
            </a:r>
          </a:p>
          <a:p>
            <a:pPr lvl="0" indent="-342900" marL="342900">
              <a:buAutoNum type="arabicPeriod"/>
            </a:pPr>
            <a:r>
              <a:rPr/>
              <a:t>remaining-governance-systems-fractal.md</a:t>
            </a:r>
          </a:p>
          <a:p>
            <a:pPr lvl="0" indent="-342900" marL="342900">
              <a:buAutoNum type="arabicPeriod"/>
            </a:pPr>
            <a:r>
              <a:rPr/>
              <a:t>all-leaders-rankings-history.md</a:t>
            </a:r>
          </a:p>
          <a:p>
            <a:pPr lvl="0" indent="-342900" marL="342900">
              <a:buAutoNum type="arabicPeriod"/>
            </a:pPr>
            <a:r>
              <a:rPr/>
              <a:t>current-candidates-lists-ranking-2027.md</a:t>
            </a:r>
          </a:p>
          <a:p>
            <a:pPr lvl="0" indent="-342900" marL="342900">
              <a:buAutoNum type="arabicPeriod"/>
            </a:pPr>
            <a:r>
              <a:rPr/>
              <a:t>complete-all-120-mks-new-candidates.md</a:t>
            </a:r>
          </a:p>
          <a:p>
            <a:pPr lvl="0" indent="-342900" marL="342900">
              <a:buAutoNum type="arabicPeriod"/>
            </a:pPr>
            <a:r>
              <a:rPr/>
              <a:t>comprehensive-publics-sectors-hp-tora.md</a:t>
            </a:r>
          </a:p>
          <a:p>
            <a:pPr lvl="0" indent="-342900" marL="342900">
              <a:buAutoNum type="arabicPeriod"/>
            </a:pPr>
            <a:r>
              <a:rPr/>
              <a:t>deep-dive-sub-sectors-and-events.md</a:t>
            </a:r>
          </a:p>
          <a:p>
            <a:pPr lvl="0" indent="-342900" marL="342900">
              <a:buAutoNum type="arabicPeriod"/>
            </a:pPr>
            <a:r>
              <a:rPr/>
              <a:t>new-domains-expansion.md</a:t>
            </a:r>
          </a:p>
          <a:p>
            <a:pPr lvl="0" indent="-342900" marL="342900">
              <a:buAutoNum type="arabicPeriod"/>
            </a:pPr>
            <a:r>
              <a:rPr/>
              <a:t>sectors-and-local-authorities-complete.md</a:t>
            </a:r>
          </a:p>
          <a:p>
            <a:pPr lvl="0" indent="0" marL="0">
              <a:spcBef>
                <a:spcPts val="3000"/>
              </a:spcBef>
              <a:buNone/>
            </a:pPr>
            <a:r>
              <a:rPr b="1"/>
              <a:t>15.4 Corruption (2)</a:t>
            </a:r>
          </a:p>
          <a:p>
            <a:pPr lvl="0" indent="-342900" marL="342900">
              <a:buAutoNum type="arabicPeriod"/>
            </a:pPr>
            <a:r>
              <a:rPr/>
              <a:t>analysis.md</a:t>
            </a:r>
          </a:p>
          <a:p>
            <a:pPr lvl="0" indent="-342900" marL="342900">
              <a:buAutoNum type="arabicPeriod"/>
            </a:pPr>
            <a:r>
              <a:rPr/>
              <a:t>data-fluidity-manipulation.md</a:t>
            </a:r>
          </a:p>
          <a:p>
            <a:pPr lvl="0" indent="0" marL="0">
              <a:spcBef>
                <a:spcPts val="3000"/>
              </a:spcBef>
              <a:buNone/>
            </a:pPr>
            <a:r>
              <a:rPr b="1"/>
              <a:t>15.5 Budget-Power (16)</a:t>
            </a:r>
          </a:p>
          <a:p>
            <a:pPr lvl="0" indent="-342900" marL="342900">
              <a:buAutoNum type="arabicPeriod"/>
            </a:pPr>
            <a:r>
              <a:rPr/>
              <a:t>budget-parties-foreign-influence.md</a:t>
            </a:r>
          </a:p>
          <a:p>
            <a:pPr lvl="0" indent="-342900" marL="342900">
              <a:buAutoNum type="arabicPeriod"/>
            </a:pPr>
            <a:r>
              <a:rPr/>
              <a:t>promises-vs-execution.md</a:t>
            </a:r>
          </a:p>
          <a:p>
            <a:pPr lvl="0" indent="-342900" marL="342900">
              <a:buAutoNum type="arabicPeriod"/>
            </a:pPr>
            <a:r>
              <a:rPr/>
              <a:t>governments-historical-comparison.md</a:t>
            </a:r>
          </a:p>
          <a:p>
            <a:pPr lvl="0" indent="-342900" marL="342900">
              <a:buAutoNum type="arabicPeriod"/>
            </a:pPr>
            <a:r>
              <a:rPr/>
              <a:t>all-governments-full-comparison.md</a:t>
            </a:r>
          </a:p>
          <a:p>
            <a:pPr lvl="0" indent="-342900" marL="342900">
              <a:buAutoNum type="arabicPeriod"/>
            </a:pPr>
            <a:r>
              <a:rPr/>
              <a:t>all-pms-complete-master-table.md</a:t>
            </a:r>
          </a:p>
          <a:p>
            <a:pPr lvl="0" indent="-342900" marL="342900">
              <a:buAutoNum type="arabicPeriod"/>
            </a:pPr>
            <a:r>
              <a:rPr/>
              <a:t>ministers-and-systems-hp-tora.md</a:t>
            </a:r>
          </a:p>
          <a:p>
            <a:pPr lvl="0" indent="-342900" marL="342900">
              <a:buAutoNum type="arabicPeriod"/>
            </a:pPr>
            <a:r>
              <a:rPr/>
              <a:t>pm-waste-contribution-and-appointments.md</a:t>
            </a:r>
          </a:p>
          <a:p>
            <a:pPr lvl="0" indent="-342900" marL="342900">
              <a:buAutoNum type="arabicPeriod"/>
            </a:pPr>
            <a:r>
              <a:rPr/>
              <a:t>damage-benefit-cost-analysis.md</a:t>
            </a:r>
          </a:p>
          <a:p>
            <a:pPr lvl="0" indent="-342900" marL="342900">
              <a:buAutoNum type="arabicPeriod"/>
            </a:pPr>
            <a:r>
              <a:rPr/>
              <a:t>citizen-benefit-vs-damage.md</a:t>
            </a:r>
          </a:p>
          <a:p>
            <a:pPr lvl="0" indent="-342900" marL="342900">
              <a:buAutoNum type="arabicPeriod"/>
            </a:pPr>
            <a:r>
              <a:rPr/>
              <a:t>family-and-associates-influence.md</a:t>
            </a:r>
          </a:p>
          <a:p>
            <a:pPr lvl="0" indent="-342900" marL="342900">
              <a:buAutoNum type="arabicPeriod"/>
            </a:pPr>
            <a:r>
              <a:rPr/>
              <a:t>budget-procurement-manpower-analysis.md</a:t>
            </a:r>
          </a:p>
          <a:p>
            <a:pPr lvl="0" indent="-342900" marL="342900">
              <a:buAutoNum type="arabicPeriod"/>
            </a:pPr>
            <a:r>
              <a:rPr/>
              <a:t>beneficial-engagement-percentage.md</a:t>
            </a:r>
          </a:p>
          <a:p>
            <a:pPr lvl="0" indent="-342900" marL="342900">
              <a:buAutoNum type="arabicPeriod"/>
            </a:pPr>
            <a:r>
              <a:rPr/>
              <a:t>indirect-damage-future-obligations-independence.md</a:t>
            </a:r>
          </a:p>
          <a:p>
            <a:pPr lvl="0" indent="-342900" marL="342900">
              <a:buAutoNum type="arabicPeriod"/>
            </a:pPr>
            <a:r>
              <a:rPr/>
              <a:t>generational-monte-carlo-alternative-gdp.md</a:t>
            </a:r>
          </a:p>
          <a:p>
            <a:pPr lvl="0" indent="0" marL="0">
              <a:spcBef>
                <a:spcPts val="3000"/>
              </a:spcBef>
              <a:buNone/>
            </a:pPr>
            <a:r>
              <a:rPr b="1"/>
              <a:t>15.6 Summary (8)</a:t>
            </a:r>
          </a:p>
          <a:p>
            <a:pPr lvl="0" indent="-342900" marL="342900">
              <a:buAutoNum type="arabicPeriod"/>
            </a:pPr>
            <a:r>
              <a:rPr/>
              <a:t>holistic-summary.md</a:t>
            </a:r>
          </a:p>
          <a:p>
            <a:pPr lvl="0" indent="-342900" marL="342900">
              <a:buAutoNum type="arabicPeriod"/>
            </a:pPr>
            <a:r>
              <a:rPr/>
              <a:t>research-master-summary.md</a:t>
            </a:r>
          </a:p>
          <a:p>
            <a:pPr lvl="0" indent="-342900" marL="342900">
              <a:buAutoNum type="arabicPeriod"/>
            </a:pPr>
            <a:r>
              <a:rPr/>
              <a:t>collapse-points-institutions-sectors.md</a:t>
            </a:r>
          </a:p>
          <a:p>
            <a:pPr lvl="0" indent="-342900" marL="342900">
              <a:buAutoNum type="arabicPeriod"/>
            </a:pPr>
            <a:r>
              <a:rPr/>
              <a:t>what-collapse-really-means.md</a:t>
            </a:r>
          </a:p>
          <a:p>
            <a:pPr lvl="0" indent="-342900" marL="342900">
              <a:buAutoNum type="arabicPeriod"/>
            </a:pPr>
            <a:r>
              <a:rPr/>
              <a:t>implementation-action-plan.md</a:t>
            </a:r>
          </a:p>
          <a:p>
            <a:pPr lvl="0" indent="-342900" marL="342900">
              <a:buAutoNum type="arabicPeriod"/>
            </a:pPr>
            <a:r>
              <a:rPr/>
              <a:t>unique-novel-analyses.md</a:t>
            </a:r>
          </a:p>
          <a:p>
            <a:pPr lvl="0" indent="-342900" marL="342900">
              <a:buAutoNum type="arabicPeriod"/>
            </a:pPr>
            <a:r>
              <a:rPr/>
              <a:t>launch-and-next-steps.md</a:t>
            </a:r>
          </a:p>
          <a:p>
            <a:pPr lvl="0" indent="-342900" marL="342900">
              <a:buAutoNum type="arabicPeriod"/>
            </a:pPr>
            <a:r>
              <a:rPr/>
              <a:t>regional-recovery-roadmap.md</a:t>
            </a:r>
          </a:p>
          <a:p>
            <a:pPr lvl="0" indent="-342900" marL="342900">
              <a:buAutoNum type="arabicPeriod"/>
            </a:pPr>
            <a:r>
              <a:rPr b="1"/>
              <a:t>FINAL-MASTER-SUMMARY.md</a:t>
            </a:r>
            <a:r>
              <a:rPr/>
              <a:t> ← זה המסמך הנוכחי</a:t>
            </a:r>
          </a:p>
          <a:p>
            <a:pPr lvl="0" indent="0" marL="0">
              <a:spcBef>
                <a:spcPts val="3000"/>
              </a:spcBef>
              <a:buNone/>
            </a:pPr>
            <a:r>
              <a:rPr b="1"/>
              <a:t>15.7 Tools (6 Python modules)</a:t>
            </a:r>
          </a:p>
          <a:p>
            <a:pPr lvl="0" indent="-342900" marL="342900">
              <a:buAutoNum type="arabicPeriod"/>
            </a:pPr>
            <a:r>
              <a:rPr/>
              <a:t>config.py</a:t>
            </a:r>
          </a:p>
          <a:p>
            <a:pPr lvl="0" indent="-342900" marL="342900">
              <a:buAutoNum type="arabicPeriod"/>
            </a:pPr>
            <a:r>
              <a:rPr/>
              <a:t>face_detector.py</a:t>
            </a:r>
          </a:p>
          <a:p>
            <a:pPr lvl="0" indent="-342900" marL="342900">
              <a:buAutoNum type="arabicPeriod"/>
            </a:pPr>
            <a:r>
              <a:rPr/>
              <a:t>fractal_analysis.py</a:t>
            </a:r>
          </a:p>
          <a:p>
            <a:pPr lvl="0" indent="-342900" marL="342900">
              <a:buAutoNum type="arabicPeriod"/>
            </a:pPr>
            <a:r>
              <a:rPr/>
              <a:t>dur_analysis.py</a:t>
            </a:r>
          </a:p>
          <a:p>
            <a:pPr lvl="0" indent="-342900" marL="342900">
              <a:buAutoNum type="arabicPeriod"/>
            </a:pPr>
            <a:r>
              <a:rPr/>
              <a:t>stefan_face.py</a:t>
            </a:r>
          </a:p>
          <a:p>
            <a:pPr lvl="0" indent="-342900" marL="342900">
              <a:buAutoNum type="arabicPeriod"/>
            </a:pPr>
            <a:r>
              <a:rPr/>
              <a:t>pipeline.py</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16: הסיכום של הסיכום</a:t>
            </a:r>
          </a:p>
        </p:txBody>
      </p:sp>
      <p:sp>
        <p:nvSpPr>
          <p:cNvPr id="3" name="Content Placeholder 2"/>
          <p:cNvSpPr>
            <a:spLocks noGrp="1"/>
          </p:cNvSpPr>
          <p:nvPr>
            <p:ph idx="1"/>
          </p:nvPr>
        </p:nvSpPr>
        <p:spPr/>
        <p:txBody>
          <a:bodyPr/>
          <a:lstStyle/>
          <a:p>
            <a:pPr lvl="0" indent="0" marL="0">
              <a:spcBef>
                <a:spcPts val="3000"/>
              </a:spcBef>
              <a:buNone/>
            </a:pPr>
            <a:r>
              <a:rPr b="1"/>
              <a:t>16.1 שלוש משפטים</a:t>
            </a:r>
          </a:p>
          <a:p>
            <a:pPr lvl="0" indent="0" marL="1270000">
              <a:buNone/>
            </a:pPr>
            <a:r>
              <a:rPr sz="2000" b="1"/>
              <a:t>1. ישראל 2026 במצב קריסה פרקטלית (F=5.5, 0.5 מעל נקודת קריסה).</a:t>
            </a:r>
          </a:p>
          <a:p>
            <a:pPr lvl="0" indent="0" marL="1270000">
              <a:buNone/>
            </a:pPr>
            <a:r>
              <a:rPr sz="2000" b="1"/>
              <a:t>2. יש חלון של 2-3 שנים (עד 2029) לתקן — דרך בחירות 2027.</a:t>
            </a:r>
          </a:p>
          <a:p>
            <a:pPr lvl="0" indent="0" marL="1270000">
              <a:buNone/>
            </a:pPr>
            <a:r>
              <a:rPr sz="2000" b="1"/>
              <a:t>3. הגורל בידי האזרחים — ובמיוחד בידי דור Z.</a:t>
            </a:r>
          </a:p>
          <a:p>
            <a:pPr lvl="0" indent="0" marL="0">
              <a:spcBef>
                <a:spcPts val="3000"/>
              </a:spcBef>
              <a:buNone/>
            </a:pPr>
            <a:r>
              <a:rPr b="1"/>
              <a:t>16.2 שלושת המספרים</a:t>
            </a:r>
          </a:p>
          <a:p>
            <a:pPr lvl="0"/>
            <a:r>
              <a:rPr b="1"/>
              <a:t>×170</a:t>
            </a:r>
            <a:r>
              <a:rPr/>
              <a:t>: ההפרש בין בן-גוריון לנתניהו 6</a:t>
            </a:r>
          </a:p>
          <a:p>
            <a:pPr lvl="0"/>
            <a:r>
              <a:rPr b="1"/>
              <a:t>×14</a:t>
            </a:r>
            <a:r>
              <a:rPr/>
              <a:t>: כוח האזרח ביחס לממשלה</a:t>
            </a:r>
          </a:p>
          <a:p>
            <a:pPr lvl="0"/>
            <a:r>
              <a:rPr b="1"/>
              <a:t>×7.5</a:t>
            </a:r>
            <a:r>
              <a:rPr/>
              <a:t>: ROI של תוכנית השיקום האזורי</a:t>
            </a:r>
          </a:p>
          <a:p>
            <a:pPr lvl="0" indent="0" marL="0">
              <a:spcBef>
                <a:spcPts val="3000"/>
              </a:spcBef>
              <a:buNone/>
            </a:pPr>
            <a:r>
              <a:rPr b="1"/>
              <a:t>16.3 שלוש פעולות אפשריות</a:t>
            </a:r>
          </a:p>
          <a:p>
            <a:pPr lvl="0" indent="-342900" marL="342900">
              <a:buAutoNum type="arabicPeriod"/>
            </a:pPr>
            <a:r>
              <a:rPr b="1"/>
              <a:t>לקרוא</a:t>
            </a:r>
            <a:r>
              <a:rPr/>
              <a:t> את המחקר (או את התקציר)</a:t>
            </a:r>
          </a:p>
          <a:p>
            <a:pPr lvl="0" indent="-342900" marL="342900">
              <a:buAutoNum type="arabicPeriod"/>
            </a:pPr>
            <a:r>
              <a:rPr b="1"/>
              <a:t>להצביע חכם</a:t>
            </a:r>
            <a:r>
              <a:rPr/>
              <a:t> ב-2027</a:t>
            </a:r>
          </a:p>
          <a:p>
            <a:pPr lvl="0" indent="-342900" marL="342900">
              <a:buAutoNum type="arabicPeriod"/>
            </a:pPr>
            <a:r>
              <a:rPr b="1"/>
              <a:t>להשתתף</a:t>
            </a:r>
            <a:r>
              <a:rPr/>
              <a:t> בחברה הישראלית</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פרק 17: ההודעה האחרונה</a:t>
            </a:r>
          </a:p>
        </p:txBody>
      </p:sp>
      <p:sp>
        <p:nvSpPr>
          <p:cNvPr id="3" name="Content Placeholder 2"/>
          <p:cNvSpPr>
            <a:spLocks noGrp="1"/>
          </p:cNvSpPr>
          <p:nvPr>
            <p:ph idx="1"/>
          </p:nvPr>
        </p:nvSpPr>
        <p:spPr/>
        <p:txBody>
          <a:bodyPr/>
          <a:lstStyle/>
          <a:p>
            <a:pPr lvl="0" indent="0" marL="0">
              <a:buNone/>
            </a:pPr>
            <a:r>
              <a:rPr b="1"/>
              <a:t>המחקר הזה הוא רק אבחנה.</a:t>
            </a:r>
            <a:r>
              <a:rPr/>
              <a:t> </a:t>
            </a:r>
            <a:r>
              <a:rPr b="1"/>
              <a:t>הפעולה היא בידי האזרחים.</a:t>
            </a:r>
          </a:p>
          <a:p>
            <a:pPr lvl="0" indent="0" marL="0">
              <a:buNone/>
            </a:pPr>
            <a:r>
              <a:rPr b="1"/>
              <a:t>ישראל יש את ההון.</a:t>
            </a:r>
            <a:r>
              <a:rPr/>
              <a:t> </a:t>
            </a:r>
            <a:r>
              <a:rPr b="1"/>
              <a:t>יש לה את האנשים.</a:t>
            </a:r>
            <a:r>
              <a:rPr/>
              <a:t> </a:t>
            </a:r>
            <a:r>
              <a:rPr b="1"/>
              <a:t>יש לה את החזון.</a:t>
            </a:r>
            <a:r>
              <a:rPr/>
              <a:t> </a:t>
            </a:r>
            <a:r>
              <a:rPr b="1"/>
              <a:t>יש לה את ההיסטוריה.</a:t>
            </a:r>
          </a:p>
          <a:p>
            <a:pPr lvl="0" indent="0" marL="0">
              <a:buNone/>
            </a:pPr>
            <a:r>
              <a:rPr b="1"/>
              <a:t>הכל שחסר הוא: את הבחירה.</a:t>
            </a:r>
          </a:p>
          <a:p>
            <a:pPr lvl="0" indent="0" marL="0">
              <a:buNone/>
            </a:pPr>
            <a:r>
              <a:rPr b="1"/>
              <a:t>2027 הוא הרגע.</a:t>
            </a:r>
          </a:p>
          <a:p>
            <a:pPr lvl="0" indent="0" marL="0">
              <a:buNone/>
            </a:pPr>
            <a:r>
              <a:rPr b="1"/>
              <a:t>הפרקטלית אומרת: כן, אפשר.</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מחבר</a:t>
            </a:r>
            <a:r>
              <a:rPr/>
              <a:t>: udihem78@gmail.com </a:t>
            </a:r>
            <a:r>
              <a:rPr b="1"/>
              <a:t>תאריך</a:t>
            </a:r>
            <a:r>
              <a:rPr/>
              <a:t>: אוקטובר 2026 </a:t>
            </a:r>
            <a:r>
              <a:rPr b="1"/>
              <a:t>סה”כ</a:t>
            </a:r>
            <a:r>
              <a:rPr/>
              <a:t>: 32 מסמכים · 23,100 שורות · 79,500 נקודות מדידה · 17 מדדים · 14 חוקים · 5 תוכניות · 1 יעד</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“ישראל פרקטלית — ואפשרית”</a:t>
            </a:r>
          </a:p>
          <a:p>
            <a:pPr lvl="0" indent="0" marL="0">
              <a:buNone/>
            </a:pPr>
            <a:r>
              <a:rPr i="1"/>
              <a:t>המחקר הוא ל-udihem78@gmail.com ולכל האזרחים הישראלים.</a:t>
            </a:r>
          </a:p>
          <a:p>
            <a:pPr lvl="0" indent="0" marL="0">
              <a:buNone/>
            </a:pPr>
            <a:r>
              <a:rPr i="1"/>
              <a:t>המחקר קורא לפעולה. ההיסטוריה בידכם.</a:t>
            </a:r>
          </a:p>
          <a:p>
            <a:pPr lvl="0" indent="0" marL="0">
              <a:buNone/>
            </a:pPr>
            <a:r>
              <a:rPr i="1"/>
              <a:t>אפשר. בעזרתכם. יש זמן.</a:t>
            </a:r>
          </a:p>
          <a:p>
            <a:pPr lvl="0" indent="0" marL="0">
              <a:buNone/>
            </a:pPr>
            <a:r>
              <a:rPr b="1"/>
              <a:t>2027.</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2026-10-15T22:05:52Z</dcterms:created>
  <dcterms:modified xsi:type="dcterms:W3CDTF">2026-10-15T22:05:52Z</dcterms:modified>
</cp:coreProperties>
</file>

<file path=docProps/custom.xml><?xml version="1.0" encoding="utf-8"?>
<Properties xmlns="http://schemas.openxmlformats.org/officeDocument/2006/custom-properties" xmlns:vt="http://schemas.openxmlformats.org/officeDocument/2006/docPropsVTypes"/>
</file>